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41"/>
  </p:notesMasterIdLst>
  <p:sldIdLst>
    <p:sldId id="256" r:id="rId3"/>
    <p:sldId id="257" r:id="rId4"/>
    <p:sldId id="258" r:id="rId5"/>
    <p:sldId id="259" r:id="rId6"/>
    <p:sldId id="288" r:id="rId7"/>
    <p:sldId id="289" r:id="rId8"/>
    <p:sldId id="290" r:id="rId9"/>
    <p:sldId id="291" r:id="rId10"/>
    <p:sldId id="292" r:id="rId11"/>
    <p:sldId id="293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</p:sldIdLst>
  <p:sldSz cx="9144000" cy="5143500" type="screen16x9"/>
  <p:notesSz cx="6858000" cy="9144000"/>
  <p:embeddedFontLst>
    <p:embeddedFont>
      <p:font typeface="Algerian" panose="04020705040A02060702" pitchFamily="82" charset="0"/>
      <p:regular r:id="rId42"/>
    </p:embeddedFont>
    <p:embeddedFont>
      <p:font typeface="Calibri" panose="020F0502020204030204" pitchFamily="34" charset="0"/>
      <p:regular r:id="rId43"/>
      <p:bold r:id="rId44"/>
      <p:italic r:id="rId45"/>
      <p:boldItalic r:id="rId46"/>
    </p:embeddedFont>
    <p:embeddedFont>
      <p:font typeface="Economica" panose="020B0604020202020204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DFBC736-CA73-4E13-BD2D-A71C48047175}">
  <a:tblStyle styleId="{BDFBC736-CA73-4E13-BD2D-A71C4804717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84BCD99-8B60-4B87-9191-8B358D1FCD2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076" autoAdjust="0"/>
  </p:normalViewPr>
  <p:slideViewPr>
    <p:cSldViewPr snapToGrid="0">
      <p:cViewPr varScale="1">
        <p:scale>
          <a:sx n="77" d="100"/>
          <a:sy n="77" d="100"/>
        </p:scale>
        <p:origin x="1206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font" Target="fonts/font4.fntdata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3.fntdata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8" Type="http://schemas.openxmlformats.org/officeDocument/2006/relationships/slide" Target="slides/slide6.xml"/><Relationship Id="rId51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5.fntdata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dfbe674b4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37dfbe674b4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dfbe674b4_0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37dfbe674b4_0_2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dfbe674b4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dfbe674b4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9373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7dfbe674b4_0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g37dfbe674b4_0_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dfbe674b4_0_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37dfbe674b4_0_3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dfbe674b4_0_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37dfbe674b4_0_2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dfbe674b4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g37dfbe674b4_0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7dfbe674b4_0_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g37dfbe674b4_0_4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dfbe674b4_0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g37dfbe674b4_0_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7dfbe674b4_0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g37dfbe674b4_0_3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7dfbe674b4_0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g37dfbe674b4_0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7dfbe674b4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g37dfbe674b4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7dfbe674b4_0_3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g37dfbe674b4_0_3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7dfbe674b4_0_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g37dfbe674b4_0_4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7dfbe674b4_0_3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g37dfbe674b4_0_3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7dfbe674b4_0_3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g37dfbe674b4_0_3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7dfbe674b4_0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g37dfbe674b4_0_3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7dfbe674b4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6" name="Google Shape;286;g37dfbe674b4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7dfbe674b4_0_5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g37dfbe674b4_0_5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7dfbe674b4_0_4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9" name="Google Shape;299;g37dfbe674b4_0_4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7dfbe674b4_0_4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g37dfbe674b4_0_4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7dfbe674b4_0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" name="Google Shape;314;g37dfbe674b4_0_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7dfbe674b4_0_4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1" name="Google Shape;321;g37dfbe674b4_0_4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7dfbe674b4_0_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g37dfbe674b4_0_4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7dfbe674b4_0_4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4" name="Google Shape;334;g37dfbe674b4_0_4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7dfbe674b4_0_4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6" name="Google Shape;346;g37dfbe674b4_0_4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7dfbe674b4_0_4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4" name="Google Shape;354;g37dfbe674b4_0_4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7dfbe674b4_0_4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g37dfbe674b4_0_4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7dfbe674b4_0_4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3" name="Google Shape;383;g37dfbe674b4_0_4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7dfbe674b4_0_4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1" name="Google Shape;391;g37dfbe674b4_0_4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7dfbe674b4_0_5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9" name="Google Shape;399;g37dfbe674b4_0_5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6" name="Google Shape;136;p26"/>
          <p:cNvSpPr txBox="1"/>
          <p:nvPr/>
        </p:nvSpPr>
        <p:spPr>
          <a:xfrm>
            <a:off x="457200" y="237375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38" name="Google Shape;138;p26"/>
          <p:cNvSpPr txBox="1"/>
          <p:nvPr/>
        </p:nvSpPr>
        <p:spPr>
          <a:xfrm>
            <a:off x="2399850" y="2366051"/>
            <a:ext cx="4344300" cy="10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6"/>
          <p:cNvSpPr txBox="1"/>
          <p:nvPr/>
        </p:nvSpPr>
        <p:spPr>
          <a:xfrm>
            <a:off x="595077" y="1180662"/>
            <a:ext cx="5270700" cy="22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the digital landscape of Bangladesh, where over 93% of internet users engage on Facebook, the spread of unverified information has become a prevalent concern.  </a:t>
            </a:r>
            <a:endParaRPr sz="14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968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Understanding individual sentiments toward these rumors is crucial to analyzing rumor propagation dynamics, necessitating nuanced categorization into positive, negative, or neutral reactions. Here, ‘sentiment’ refers to whether a comment on a rumor post expresses positive, negative, or neutral emotion.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0" name="Google Shape;140;p26"/>
          <p:cNvGrpSpPr/>
          <p:nvPr/>
        </p:nvGrpSpPr>
        <p:grpSpPr>
          <a:xfrm>
            <a:off x="6108492" y="1089824"/>
            <a:ext cx="2639575" cy="2353613"/>
            <a:chOff x="1197023" y="1520687"/>
            <a:chExt cx="3150226" cy="2595515"/>
          </a:xfrm>
        </p:grpSpPr>
        <p:sp>
          <p:nvSpPr>
            <p:cNvPr id="141" name="Google Shape;141;p26"/>
            <p:cNvSpPr/>
            <p:nvPr/>
          </p:nvSpPr>
          <p:spPr>
            <a:xfrm>
              <a:off x="2395534" y="3572052"/>
              <a:ext cx="753905" cy="429087"/>
            </a:xfrm>
            <a:custGeom>
              <a:avLst/>
              <a:gdLst/>
              <a:ahLst/>
              <a:cxnLst/>
              <a:rect l="l" t="t" r="r" b="b"/>
              <a:pathLst>
                <a:path w="29834" h="17416" extrusionOk="0">
                  <a:moveTo>
                    <a:pt x="2511" y="0"/>
                  </a:moveTo>
                  <a:lnTo>
                    <a:pt x="0" y="17416"/>
                  </a:lnTo>
                  <a:lnTo>
                    <a:pt x="29833" y="17416"/>
                  </a:lnTo>
                  <a:lnTo>
                    <a:pt x="27003" y="0"/>
                  </a:lnTo>
                  <a:close/>
                </a:path>
              </a:pathLst>
            </a:custGeom>
            <a:solidFill>
              <a:srgbClr val="8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26"/>
            <p:cNvSpPr/>
            <p:nvPr/>
          </p:nvSpPr>
          <p:spPr>
            <a:xfrm>
              <a:off x="2133633" y="4054309"/>
              <a:ext cx="1277045" cy="61893"/>
            </a:xfrm>
            <a:custGeom>
              <a:avLst/>
              <a:gdLst/>
              <a:ahLst/>
              <a:cxnLst/>
              <a:rect l="l" t="t" r="r" b="b"/>
              <a:pathLst>
                <a:path w="50536" h="1256" extrusionOk="0">
                  <a:moveTo>
                    <a:pt x="1" y="1"/>
                  </a:moveTo>
                  <a:lnTo>
                    <a:pt x="1" y="1256"/>
                  </a:lnTo>
                  <a:lnTo>
                    <a:pt x="50536" y="1256"/>
                  </a:lnTo>
                  <a:lnTo>
                    <a:pt x="50536" y="1"/>
                  </a:lnTo>
                  <a:close/>
                </a:path>
              </a:pathLst>
            </a:custGeom>
            <a:solidFill>
              <a:srgbClr val="8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26"/>
            <p:cNvSpPr/>
            <p:nvPr/>
          </p:nvSpPr>
          <p:spPr>
            <a:xfrm>
              <a:off x="2133641" y="3992441"/>
              <a:ext cx="1277045" cy="61889"/>
            </a:xfrm>
            <a:custGeom>
              <a:avLst/>
              <a:gdLst/>
              <a:ahLst/>
              <a:cxnLst/>
              <a:rect l="l" t="t" r="r" b="b"/>
              <a:pathLst>
                <a:path w="50536" h="2512" extrusionOk="0">
                  <a:moveTo>
                    <a:pt x="10363" y="1"/>
                  </a:moveTo>
                  <a:lnTo>
                    <a:pt x="1" y="2512"/>
                  </a:lnTo>
                  <a:lnTo>
                    <a:pt x="50536" y="2512"/>
                  </a:lnTo>
                  <a:lnTo>
                    <a:pt x="401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26"/>
            <p:cNvSpPr/>
            <p:nvPr/>
          </p:nvSpPr>
          <p:spPr>
            <a:xfrm>
              <a:off x="1197023" y="3342369"/>
              <a:ext cx="3150226" cy="275028"/>
            </a:xfrm>
            <a:custGeom>
              <a:avLst/>
              <a:gdLst/>
              <a:ahLst/>
              <a:cxnLst/>
              <a:rect l="l" t="t" r="r" b="b"/>
              <a:pathLst>
                <a:path w="116524" h="11163" extrusionOk="0">
                  <a:moveTo>
                    <a:pt x="0" y="1"/>
                  </a:moveTo>
                  <a:lnTo>
                    <a:pt x="0" y="6369"/>
                  </a:lnTo>
                  <a:cubicBezTo>
                    <a:pt x="0" y="9017"/>
                    <a:pt x="2169" y="11162"/>
                    <a:pt x="4816" y="11162"/>
                  </a:cubicBezTo>
                  <a:lnTo>
                    <a:pt x="111707" y="11162"/>
                  </a:lnTo>
                  <a:cubicBezTo>
                    <a:pt x="114355" y="11162"/>
                    <a:pt x="116523" y="9017"/>
                    <a:pt x="116523" y="6369"/>
                  </a:cubicBezTo>
                  <a:lnTo>
                    <a:pt x="1165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highlight>
                  <a:schemeClr val="dk2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26"/>
            <p:cNvSpPr/>
            <p:nvPr/>
          </p:nvSpPr>
          <p:spPr>
            <a:xfrm>
              <a:off x="1197023" y="1520687"/>
              <a:ext cx="3150226" cy="1830324"/>
            </a:xfrm>
            <a:custGeom>
              <a:avLst/>
              <a:gdLst/>
              <a:ahLst/>
              <a:cxnLst/>
              <a:rect l="l" t="t" r="r" b="b"/>
              <a:pathLst>
                <a:path w="116524" h="65258" extrusionOk="0">
                  <a:moveTo>
                    <a:pt x="112209" y="3766"/>
                  </a:moveTo>
                  <a:lnTo>
                    <a:pt x="112209" y="61218"/>
                  </a:lnTo>
                  <a:lnTo>
                    <a:pt x="4314" y="61218"/>
                  </a:lnTo>
                  <a:lnTo>
                    <a:pt x="4314" y="3766"/>
                  </a:lnTo>
                  <a:close/>
                  <a:moveTo>
                    <a:pt x="4839" y="0"/>
                  </a:moveTo>
                  <a:cubicBezTo>
                    <a:pt x="2169" y="0"/>
                    <a:pt x="0" y="2169"/>
                    <a:pt x="0" y="4839"/>
                  </a:cubicBezTo>
                  <a:lnTo>
                    <a:pt x="0" y="65258"/>
                  </a:lnTo>
                  <a:lnTo>
                    <a:pt x="116523" y="65258"/>
                  </a:lnTo>
                  <a:lnTo>
                    <a:pt x="116523" y="4839"/>
                  </a:lnTo>
                  <a:cubicBezTo>
                    <a:pt x="116523" y="2169"/>
                    <a:pt x="114355" y="0"/>
                    <a:pt x="111684" y="0"/>
                  </a:cubicBezTo>
                  <a:close/>
                </a:path>
              </a:pathLst>
            </a:custGeom>
            <a:solidFill>
              <a:srgbClr val="8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26"/>
            <p:cNvSpPr/>
            <p:nvPr/>
          </p:nvSpPr>
          <p:spPr>
            <a:xfrm>
              <a:off x="2715111" y="3421323"/>
              <a:ext cx="114802" cy="112495"/>
            </a:xfrm>
            <a:custGeom>
              <a:avLst/>
              <a:gdLst/>
              <a:ahLst/>
              <a:cxnLst/>
              <a:rect l="l" t="t" r="r" b="b"/>
              <a:pathLst>
                <a:path w="4543" h="4566" extrusionOk="0">
                  <a:moveTo>
                    <a:pt x="2260" y="1"/>
                  </a:moveTo>
                  <a:cubicBezTo>
                    <a:pt x="1005" y="1"/>
                    <a:pt x="1" y="1028"/>
                    <a:pt x="1" y="2283"/>
                  </a:cubicBezTo>
                  <a:cubicBezTo>
                    <a:pt x="1" y="3539"/>
                    <a:pt x="1005" y="4566"/>
                    <a:pt x="2260" y="4566"/>
                  </a:cubicBezTo>
                  <a:cubicBezTo>
                    <a:pt x="3516" y="4566"/>
                    <a:pt x="4543" y="3539"/>
                    <a:pt x="4543" y="2283"/>
                  </a:cubicBezTo>
                  <a:cubicBezTo>
                    <a:pt x="4543" y="1028"/>
                    <a:pt x="3516" y="1"/>
                    <a:pt x="2260" y="1"/>
                  </a:cubicBezTo>
                  <a:close/>
                </a:path>
              </a:pathLst>
            </a:custGeom>
            <a:solidFill>
              <a:srgbClr val="8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7" name="Google Shape;147;p26" descr="A screenshot of a social media pos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92237" y="1191523"/>
            <a:ext cx="2474524" cy="147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6" descr="A screenshot of a computer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7238" y="3371580"/>
            <a:ext cx="6000750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6" descr="A screenshot of a blue scree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6584" y="3609167"/>
            <a:ext cx="1733550" cy="109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5" name="Google Shape;155;p27"/>
          <p:cNvSpPr txBox="1"/>
          <p:nvPr/>
        </p:nvSpPr>
        <p:spPr>
          <a:xfrm>
            <a:off x="457200" y="40420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157" name="Google Shape;157;p27"/>
          <p:cNvSpPr txBox="1"/>
          <p:nvPr/>
        </p:nvSpPr>
        <p:spPr>
          <a:xfrm>
            <a:off x="1112250" y="1297725"/>
            <a:ext cx="6919500" cy="25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Social media in Bangladesh is a primary channel for spreading information, but also for misinformation and rumors.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Understanding </a:t>
            </a: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sentiment (positive, negative, neutral)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key to analyzing rumor propagation and public opinion.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sentiment analysis methods mainly focus on </a:t>
            </a: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accuracy-based evaluation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ignoring </a:t>
            </a: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practical deployment costs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such as latency, energy use, and carbon emissions.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Recent advances in </a:t>
            </a: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LLMs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Bangla-specific encoders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provide opportunities to improve both </a:t>
            </a: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real-world usability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/>
          <p:nvPr/>
        </p:nvSpPr>
        <p:spPr>
          <a:xfrm>
            <a:off x="624450" y="504600"/>
            <a:ext cx="7895100" cy="4134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latin typeface="Algerian"/>
                <a:ea typeface="Algerian"/>
                <a:cs typeface="Algerian"/>
                <a:sym typeface="Algerian"/>
              </a:rPr>
              <a:t>Literature Review</a:t>
            </a:r>
            <a:endParaRPr sz="6000"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63" name="Google Shape;163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0E814-5DEF-4723-B08B-AF33C84CD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3741"/>
            <a:ext cx="7886700" cy="289682"/>
          </a:xfrm>
        </p:spPr>
        <p:txBody>
          <a:bodyPr>
            <a:noAutofit/>
          </a:bodyPr>
          <a:lstStyle/>
          <a:p>
            <a:pPr algn="ct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1: </a:t>
            </a:r>
            <a:r>
              <a:rPr lang="en-GB" sz="1800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GB" sz="1800" dirty="0"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sz="1800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ollection information, features, and tools used in recent studies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3B0564B-102B-43C1-8A16-E1957547E3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893911"/>
              </p:ext>
            </p:extLst>
          </p:nvPr>
        </p:nvGraphicFramePr>
        <p:xfrm>
          <a:off x="0" y="648588"/>
          <a:ext cx="9154632" cy="4505118"/>
        </p:xfrm>
        <a:graphic>
          <a:graphicData uri="http://schemas.openxmlformats.org/drawingml/2006/table">
            <a:tbl>
              <a:tblPr firstRow="1" bandRow="1">
                <a:tableStyleId>{BDFBC736-CA73-4E13-BD2D-A71C48047175}</a:tableStyleId>
              </a:tblPr>
              <a:tblGrid>
                <a:gridCol w="404507">
                  <a:extLst>
                    <a:ext uri="{9D8B030D-6E8A-4147-A177-3AD203B41FA5}">
                      <a16:colId xmlns:a16="http://schemas.microsoft.com/office/drawing/2014/main" val="3481532843"/>
                    </a:ext>
                  </a:extLst>
                </a:gridCol>
                <a:gridCol w="722835">
                  <a:extLst>
                    <a:ext uri="{9D8B030D-6E8A-4147-A177-3AD203B41FA5}">
                      <a16:colId xmlns:a16="http://schemas.microsoft.com/office/drawing/2014/main" val="2884403843"/>
                    </a:ext>
                  </a:extLst>
                </a:gridCol>
                <a:gridCol w="1152395">
                  <a:extLst>
                    <a:ext uri="{9D8B030D-6E8A-4147-A177-3AD203B41FA5}">
                      <a16:colId xmlns:a16="http://schemas.microsoft.com/office/drawing/2014/main" val="127984895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4018778639"/>
                    </a:ext>
                  </a:extLst>
                </a:gridCol>
                <a:gridCol w="1490597">
                  <a:extLst>
                    <a:ext uri="{9D8B030D-6E8A-4147-A177-3AD203B41FA5}">
                      <a16:colId xmlns:a16="http://schemas.microsoft.com/office/drawing/2014/main" val="3602870422"/>
                    </a:ext>
                  </a:extLst>
                </a:gridCol>
                <a:gridCol w="1565754">
                  <a:extLst>
                    <a:ext uri="{9D8B030D-6E8A-4147-A177-3AD203B41FA5}">
                      <a16:colId xmlns:a16="http://schemas.microsoft.com/office/drawing/2014/main" val="3421297610"/>
                    </a:ext>
                  </a:extLst>
                </a:gridCol>
                <a:gridCol w="1989744">
                  <a:extLst>
                    <a:ext uri="{9D8B030D-6E8A-4147-A177-3AD203B41FA5}">
                      <a16:colId xmlns:a16="http://schemas.microsoft.com/office/drawing/2014/main" val="1968549396"/>
                    </a:ext>
                  </a:extLst>
                </a:gridCol>
              </a:tblGrid>
              <a:tr h="48863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Article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Data collection platform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Data collection way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Study population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Considerable Features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Applied Tools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16421701"/>
                  </a:ext>
                </a:extLst>
              </a:tr>
              <a:tr h="5602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Xing (2025)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News and social media platforms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Six FSA datasets (FPB,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StockSen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CMC,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FiQA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SEntFiN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FinEntity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32835 datapoints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Financial news, social media posts and forum discussions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Heterogeneous LLM agents framework, summative agent reasoning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30891831"/>
                  </a:ext>
                </a:extLst>
              </a:tr>
              <a:tr h="78268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Katta (2025)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Reddit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AsyncPRAW (Asynchronous Python Reddit API Wrapper) library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10733 entries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Reddit comments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Sentiment analysis, LDA (Latent Dirichlet Allocation), word frequency approach, topic modeling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63072965"/>
                  </a:ext>
                </a:extLst>
              </a:tr>
              <a:tr h="7500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Invernici et al. (2025)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Academic literature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Scopus database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Hundreds of thousands of documents (scientific abstracts, 2006-2023)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Abstracts and their metadata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BERTopic, LLM-based embeddings, hyperparameter optimizer, TETYS dashboard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61764479"/>
                  </a:ext>
                </a:extLst>
              </a:tr>
              <a:tr h="82320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Wahidur et al. (2024)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Social media platforms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Neo dataset, Bitcoin sentiment dataset, Reddit dataset and Cryptocurrency sentiment dataset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14091 tweets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Sentiment, tweet, posts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Microsoft's MiniLM (distilled BERT), Google's FLAN-T5, instruction-based fine-tuning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56613746"/>
                  </a:ext>
                </a:extLst>
              </a:tr>
              <a:tr h="11002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Uddin &amp;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Sarker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(2024)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Real-world phishing email dataset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Sourced from Kaggle website.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11,322 legitimate Emails and 7,328 phishing Emails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Email content, class imbalance, positive and negative contribution scores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RoBERTa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(fine-tuned), LITA (LIME-Transformer Attribution), LIME, Transformers Interpret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10634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514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0E814-5DEF-4723-B08B-AF33C84CD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3741"/>
            <a:ext cx="8515350" cy="289826"/>
          </a:xfrm>
        </p:spPr>
        <p:txBody>
          <a:bodyPr>
            <a:noAutofit/>
          </a:bodyPr>
          <a:lstStyle/>
          <a:p>
            <a:pPr algn="r"/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Cont’d…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3B0564B-102B-43C1-8A16-E1957547E3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8639560"/>
              </p:ext>
            </p:extLst>
          </p:nvPr>
        </p:nvGraphicFramePr>
        <p:xfrm>
          <a:off x="0" y="648588"/>
          <a:ext cx="9154632" cy="4497185"/>
        </p:xfrm>
        <a:graphic>
          <a:graphicData uri="http://schemas.openxmlformats.org/drawingml/2006/table">
            <a:tbl>
              <a:tblPr firstRow="1" bandRow="1">
                <a:tableStyleId>{BDFBC736-CA73-4E13-BD2D-A71C48047175}</a:tableStyleId>
              </a:tblPr>
              <a:tblGrid>
                <a:gridCol w="404507">
                  <a:extLst>
                    <a:ext uri="{9D8B030D-6E8A-4147-A177-3AD203B41FA5}">
                      <a16:colId xmlns:a16="http://schemas.microsoft.com/office/drawing/2014/main" val="3481532843"/>
                    </a:ext>
                  </a:extLst>
                </a:gridCol>
                <a:gridCol w="660205">
                  <a:extLst>
                    <a:ext uri="{9D8B030D-6E8A-4147-A177-3AD203B41FA5}">
                      <a16:colId xmlns:a16="http://schemas.microsoft.com/office/drawing/2014/main" val="2884403843"/>
                    </a:ext>
                  </a:extLst>
                </a:gridCol>
                <a:gridCol w="1052187">
                  <a:extLst>
                    <a:ext uri="{9D8B030D-6E8A-4147-A177-3AD203B41FA5}">
                      <a16:colId xmlns:a16="http://schemas.microsoft.com/office/drawing/2014/main" val="1279848952"/>
                    </a:ext>
                  </a:extLst>
                </a:gridCol>
                <a:gridCol w="1979112">
                  <a:extLst>
                    <a:ext uri="{9D8B030D-6E8A-4147-A177-3AD203B41FA5}">
                      <a16:colId xmlns:a16="http://schemas.microsoft.com/office/drawing/2014/main" val="4018778639"/>
                    </a:ext>
                  </a:extLst>
                </a:gridCol>
                <a:gridCol w="889348">
                  <a:extLst>
                    <a:ext uri="{9D8B030D-6E8A-4147-A177-3AD203B41FA5}">
                      <a16:colId xmlns:a16="http://schemas.microsoft.com/office/drawing/2014/main" val="3602870422"/>
                    </a:ext>
                  </a:extLst>
                </a:gridCol>
                <a:gridCol w="2041742">
                  <a:extLst>
                    <a:ext uri="{9D8B030D-6E8A-4147-A177-3AD203B41FA5}">
                      <a16:colId xmlns:a16="http://schemas.microsoft.com/office/drawing/2014/main" val="3421297610"/>
                    </a:ext>
                  </a:extLst>
                </a:gridCol>
                <a:gridCol w="2127531">
                  <a:extLst>
                    <a:ext uri="{9D8B030D-6E8A-4147-A177-3AD203B41FA5}">
                      <a16:colId xmlns:a16="http://schemas.microsoft.com/office/drawing/2014/main" val="1968549396"/>
                    </a:ext>
                  </a:extLst>
                </a:gridCol>
              </a:tblGrid>
              <a:tr h="4596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Article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Data collection platform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Data collection way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Study population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Considerable Features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Applied Tools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16421701"/>
                  </a:ext>
                </a:extLst>
              </a:tr>
              <a:tr h="52706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Xu et al.(2024)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MIMIC-CXR dataset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Not mentioned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500 radiology reports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Semantic similarity, text labels, clinical ground truth alignment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GPT-4, zero-shot learning framework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30891831"/>
                  </a:ext>
                </a:extLst>
              </a:tr>
              <a:tr h="7363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Ghatora et al. (2024)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Customer product reviews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Sourced from Kaggle website.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205,052 records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Product name, product price, rate, review, summary and sentiment (positive, negative and neutral).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Forest, Naive Bayes, SVM, GPT-4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63072965"/>
                  </a:ext>
                </a:extLst>
              </a:tr>
              <a:tr h="9622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Thakur et al. (2024)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YouTube (with cross-platform analysis on Facebook and Twitter)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YouTube video descriptions analysis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8122 videos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Four distinct themes: Promotion/Outreach, Treatment, Conspiracy Theories, Politics; sentiment distribution, language diversity, sharing patterns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Topic modeling, topic-specific sentiment analysis, language detection, correlation analysis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61764479"/>
                  </a:ext>
                </a:extLst>
              </a:tr>
              <a:tr h="7744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Miah et al. (2024)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Not specified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SemEval-2017 Task 4: Sentiment Analysis in Twitter, amazon_reviews_multi, DEFT 2017, and SENTIPOLC 2016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8375 datapoints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Sentiment polarity (positive, negative, neutral), cross-lingual analysis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LibreTranslate, Google Translate, Twitter-Roberta-Base-Sentiment-Latest, bert-base-multilingual-uncased-sentiment, GPT-3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56613746"/>
                  </a:ext>
                </a:extLst>
              </a:tr>
              <a:tr h="10350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Rehan et al. (2023)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Twitter and YouTube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Not mentioned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Urdu 2400 tweets and english 1313 posts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Tweets and comments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MuRIL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RoBERTa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transfer learning, fine-tuning, manual search and grid search for hyper-parameters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10634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3761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0E814-5DEF-4723-B08B-AF33C84CD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3741"/>
            <a:ext cx="8515350" cy="289826"/>
          </a:xfrm>
        </p:spPr>
        <p:txBody>
          <a:bodyPr>
            <a:noAutofit/>
          </a:bodyPr>
          <a:lstStyle/>
          <a:p>
            <a:pPr algn="ct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2: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Areas, objectives, results, and limitations of recent studies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3B0564B-102B-43C1-8A16-E1957547E3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545606"/>
              </p:ext>
            </p:extLst>
          </p:nvPr>
        </p:nvGraphicFramePr>
        <p:xfrm>
          <a:off x="0" y="663879"/>
          <a:ext cx="9131474" cy="4479623"/>
        </p:xfrm>
        <a:graphic>
          <a:graphicData uri="http://schemas.openxmlformats.org/drawingml/2006/table">
            <a:tbl>
              <a:tblPr firstRow="1" bandRow="1">
                <a:tableStyleId>{BDFBC736-CA73-4E13-BD2D-A71C48047175}</a:tableStyleId>
              </a:tblPr>
              <a:tblGrid>
                <a:gridCol w="404507">
                  <a:extLst>
                    <a:ext uri="{9D8B030D-6E8A-4147-A177-3AD203B41FA5}">
                      <a16:colId xmlns:a16="http://schemas.microsoft.com/office/drawing/2014/main" val="3481532843"/>
                    </a:ext>
                  </a:extLst>
                </a:gridCol>
                <a:gridCol w="660205">
                  <a:extLst>
                    <a:ext uri="{9D8B030D-6E8A-4147-A177-3AD203B41FA5}">
                      <a16:colId xmlns:a16="http://schemas.microsoft.com/office/drawing/2014/main" val="2884403843"/>
                    </a:ext>
                  </a:extLst>
                </a:gridCol>
                <a:gridCol w="964504">
                  <a:extLst>
                    <a:ext uri="{9D8B030D-6E8A-4147-A177-3AD203B41FA5}">
                      <a16:colId xmlns:a16="http://schemas.microsoft.com/office/drawing/2014/main" val="1279848952"/>
                    </a:ext>
                  </a:extLst>
                </a:gridCol>
                <a:gridCol w="2693096">
                  <a:extLst>
                    <a:ext uri="{9D8B030D-6E8A-4147-A177-3AD203B41FA5}">
                      <a16:colId xmlns:a16="http://schemas.microsoft.com/office/drawing/2014/main" val="4018778639"/>
                    </a:ext>
                  </a:extLst>
                </a:gridCol>
                <a:gridCol w="2768252">
                  <a:extLst>
                    <a:ext uri="{9D8B030D-6E8A-4147-A177-3AD203B41FA5}">
                      <a16:colId xmlns:a16="http://schemas.microsoft.com/office/drawing/2014/main" val="3602870422"/>
                    </a:ext>
                  </a:extLst>
                </a:gridCol>
                <a:gridCol w="1640910">
                  <a:extLst>
                    <a:ext uri="{9D8B030D-6E8A-4147-A177-3AD203B41FA5}">
                      <a16:colId xmlns:a16="http://schemas.microsoft.com/office/drawing/2014/main" val="3421297610"/>
                    </a:ext>
                  </a:extLst>
                </a:gridCol>
              </a:tblGrid>
              <a:tr h="45706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Article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Area of application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Objective of the study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Results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6421701"/>
                  </a:ext>
                </a:extLst>
              </a:tr>
              <a:tr h="109780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Xing (2025)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Miscellaneous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Investigate the effectiveness of using LLMs without fine-tuning for financial sentiment analysis through heterogeneous LLM agents framework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Better accuracies compared to alternative multi-LLM agent settings, especially when discussion contents are substantial.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Since LLM-based prediction is slower and costlier than statistical analysis, this makes large multi-agent systems less practical.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30891831"/>
                  </a:ext>
                </a:extLst>
              </a:tr>
              <a:tr h="91347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Katta (2025)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Socialization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Analyze Reddit discussions about ChatGPT and DeepSeek using sentiment and topic modeling to understand user attitudes and public perception of LLMs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Identified significant topics including trust in AI, user expectations, potential uses, reservations about AI biases, and ethical implications. Provides insights into public sentiment shaping AI development direction.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 analysis is restricted to Reddit discussions.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3072965"/>
                  </a:ext>
                </a:extLst>
              </a:tr>
              <a:tr h="109780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Invernici et al. (2025)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Teaching and Learning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Propose a completely automated pipeline to uncover discussions on SDGs within research literature using topic modeling techniques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Successfully identified hundreds of topics on hundreds of thousands of documents. Captured insights on evolution of attitude toward SDGs in scientific abstracts (2006-2023). Produced interactive visualizations of topics' temporal evolution.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Topic modeling in a high-dimensional latent space may yield overlapping topics.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61764479"/>
                  </a:ext>
                </a:extLst>
              </a:tr>
              <a:tr h="91347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Wahidur et al. (2024)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Miscellaneous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 improve sentiment analysis for cryptocurrency market prediction by testing fine-tuning methods on DistilBERT, MiniLM, and FLAN-T5, focusing on instruction type, model size, and data scale.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40% average zero-shot performance gain after fine-tuning. Larger models achieved 75.16% accuracy. Short instructions: 72.38% accuracy (12% better than complex instructions).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Smaller-scale models may experience reduced generalization due to complete model capacity utilization.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56613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3431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0E814-5DEF-4723-B08B-AF33C84CD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3741"/>
            <a:ext cx="8515350" cy="289826"/>
          </a:xfrm>
        </p:spPr>
        <p:txBody>
          <a:bodyPr>
            <a:noAutofit/>
          </a:bodyPr>
          <a:lstStyle/>
          <a:p>
            <a:pPr algn="r"/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Cont’d…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3B0564B-102B-43C1-8A16-E1957547E3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4488391"/>
              </p:ext>
            </p:extLst>
          </p:nvPr>
        </p:nvGraphicFramePr>
        <p:xfrm>
          <a:off x="12526" y="911635"/>
          <a:ext cx="9131474" cy="3581437"/>
        </p:xfrm>
        <a:graphic>
          <a:graphicData uri="http://schemas.openxmlformats.org/drawingml/2006/table">
            <a:tbl>
              <a:tblPr firstRow="1" bandRow="1">
                <a:tableStyleId>{BDFBC736-CA73-4E13-BD2D-A71C48047175}</a:tableStyleId>
              </a:tblPr>
              <a:tblGrid>
                <a:gridCol w="404507">
                  <a:extLst>
                    <a:ext uri="{9D8B030D-6E8A-4147-A177-3AD203B41FA5}">
                      <a16:colId xmlns:a16="http://schemas.microsoft.com/office/drawing/2014/main" val="3481532843"/>
                    </a:ext>
                  </a:extLst>
                </a:gridCol>
                <a:gridCol w="660205">
                  <a:extLst>
                    <a:ext uri="{9D8B030D-6E8A-4147-A177-3AD203B41FA5}">
                      <a16:colId xmlns:a16="http://schemas.microsoft.com/office/drawing/2014/main" val="2884403843"/>
                    </a:ext>
                  </a:extLst>
                </a:gridCol>
                <a:gridCol w="964504">
                  <a:extLst>
                    <a:ext uri="{9D8B030D-6E8A-4147-A177-3AD203B41FA5}">
                      <a16:colId xmlns:a16="http://schemas.microsoft.com/office/drawing/2014/main" val="1279848952"/>
                    </a:ext>
                  </a:extLst>
                </a:gridCol>
                <a:gridCol w="2693096">
                  <a:extLst>
                    <a:ext uri="{9D8B030D-6E8A-4147-A177-3AD203B41FA5}">
                      <a16:colId xmlns:a16="http://schemas.microsoft.com/office/drawing/2014/main" val="4018778639"/>
                    </a:ext>
                  </a:extLst>
                </a:gridCol>
                <a:gridCol w="2768252">
                  <a:extLst>
                    <a:ext uri="{9D8B030D-6E8A-4147-A177-3AD203B41FA5}">
                      <a16:colId xmlns:a16="http://schemas.microsoft.com/office/drawing/2014/main" val="3602870422"/>
                    </a:ext>
                  </a:extLst>
                </a:gridCol>
                <a:gridCol w="1640910">
                  <a:extLst>
                    <a:ext uri="{9D8B030D-6E8A-4147-A177-3AD203B41FA5}">
                      <a16:colId xmlns:a16="http://schemas.microsoft.com/office/drawing/2014/main" val="3421297610"/>
                    </a:ext>
                  </a:extLst>
                </a:gridCol>
              </a:tblGrid>
              <a:tr h="47235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Article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Area of application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Objective of the study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Results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6421701"/>
                  </a:ext>
                </a:extLst>
              </a:tr>
              <a:tr h="109780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Uddin &amp; Sarker (2024)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Miscellaneous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Present a fine-tuned transformer-based language model (RoBERTa) for detecting phishing emails and propose a hybrid explanation approach for model transparency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Fine-tuned model achieves high accuracy in phishing email classification. LITA provides user-friendly insights and solves disagreement issues between LIME and Transformers Interpret approaches.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Lack of multilingual and phishing email datasets.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30891831"/>
                  </a:ext>
                </a:extLst>
              </a:tr>
              <a:tr h="91347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Xu et al.(2024)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Health Care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Leverage LLM to enhance semantic analysis and develop similarity metrics for texts, addressing limitations of traditional unsupervised NLP metrics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GPT-4 generated labels significantly improve semantic similarity assessment with scores more closely aligned with clinical ground truth than traditional NLP metrics (ROUGE, BLEU).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Framework tested only on radiology reports; generalizability to other specialized domains needs validation.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3072965"/>
                  </a:ext>
                </a:extLst>
              </a:tr>
              <a:tr h="109780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Ghatora et al. (2024)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Miscellaneous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Explore the application of traditional machine learning and pre-trained LLMs for automated sentiment analysis of customer product reviews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Traditional models (especially SVM) better for short texts. GPT-4 showed superior performance with detailed texts, capturing subtle sentiments with higher precision, recall, and F1 scores. GPT-4 uniquely identified mixed sentiments not found in simpler models.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This research relied on a public dataset, which may not reflect the nuances of private organizational data.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61764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2160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0E814-5DEF-4723-B08B-AF33C84CD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3741"/>
            <a:ext cx="8515350" cy="289826"/>
          </a:xfrm>
        </p:spPr>
        <p:txBody>
          <a:bodyPr>
            <a:noAutofit/>
          </a:bodyPr>
          <a:lstStyle/>
          <a:p>
            <a:pPr algn="r"/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Cont’d…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3B0564B-102B-43C1-8A16-E1957547E3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04991"/>
              </p:ext>
            </p:extLst>
          </p:nvPr>
        </p:nvGraphicFramePr>
        <p:xfrm>
          <a:off x="12526" y="911635"/>
          <a:ext cx="9131474" cy="3489811"/>
        </p:xfrm>
        <a:graphic>
          <a:graphicData uri="http://schemas.openxmlformats.org/drawingml/2006/table">
            <a:tbl>
              <a:tblPr firstRow="1" bandRow="1">
                <a:tableStyleId>{BDFBC736-CA73-4E13-BD2D-A71C48047175}</a:tableStyleId>
              </a:tblPr>
              <a:tblGrid>
                <a:gridCol w="404507">
                  <a:extLst>
                    <a:ext uri="{9D8B030D-6E8A-4147-A177-3AD203B41FA5}">
                      <a16:colId xmlns:a16="http://schemas.microsoft.com/office/drawing/2014/main" val="3481532843"/>
                    </a:ext>
                  </a:extLst>
                </a:gridCol>
                <a:gridCol w="660205">
                  <a:extLst>
                    <a:ext uri="{9D8B030D-6E8A-4147-A177-3AD203B41FA5}">
                      <a16:colId xmlns:a16="http://schemas.microsoft.com/office/drawing/2014/main" val="2884403843"/>
                    </a:ext>
                  </a:extLst>
                </a:gridCol>
                <a:gridCol w="964504">
                  <a:extLst>
                    <a:ext uri="{9D8B030D-6E8A-4147-A177-3AD203B41FA5}">
                      <a16:colId xmlns:a16="http://schemas.microsoft.com/office/drawing/2014/main" val="1279848952"/>
                    </a:ext>
                  </a:extLst>
                </a:gridCol>
                <a:gridCol w="2480154">
                  <a:extLst>
                    <a:ext uri="{9D8B030D-6E8A-4147-A177-3AD203B41FA5}">
                      <a16:colId xmlns:a16="http://schemas.microsoft.com/office/drawing/2014/main" val="4018778639"/>
                    </a:ext>
                  </a:extLst>
                </a:gridCol>
                <a:gridCol w="2981194">
                  <a:extLst>
                    <a:ext uri="{9D8B030D-6E8A-4147-A177-3AD203B41FA5}">
                      <a16:colId xmlns:a16="http://schemas.microsoft.com/office/drawing/2014/main" val="3602870422"/>
                    </a:ext>
                  </a:extLst>
                </a:gridCol>
                <a:gridCol w="1640910">
                  <a:extLst>
                    <a:ext uri="{9D8B030D-6E8A-4147-A177-3AD203B41FA5}">
                      <a16:colId xmlns:a16="http://schemas.microsoft.com/office/drawing/2014/main" val="3421297610"/>
                    </a:ext>
                  </a:extLst>
                </a:gridCol>
              </a:tblGrid>
              <a:tr h="47235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No.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Article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Area of application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Objective of the study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Results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6421701"/>
                  </a:ext>
                </a:extLst>
              </a:tr>
              <a:tr h="130671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Thakur et al. (2024)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Socialization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Analyze misinformation about COVID-19 on YouTube through topic modeling, sentiment analysis, language analysis, and cross-platform sharing patterns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 themes identified. Sentiment analysis: Promotion (45.8% neutral, 39.8% positive); Treatment (38.1% positive, 31.3% neutral); Conspiracy (46.9% positive, 31.0% neutral); Politics (35.7% positive, 32.9% negative). English videos shared most on Facebook/Twitter. Significant correlation between video title length and social media shares.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May not capture the full scope of misinformation dynamics across other social media platforms such as Facebook or TikTok.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30891831"/>
                  </a:ext>
                </a:extLst>
              </a:tr>
              <a:tr h="91347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Miah et al. (2024)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Miscellaneous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Propose an ensemble model of transformers and LLM for sentiment analysis of foreign languages by translating them into English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Over 86% accuracy in sentiment analysis on translated sentences. Ensemble model outperformed independent pre-trained models and LLM individually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Challenging when dealing with foreign languages without labelled training data.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3072965"/>
                  </a:ext>
                </a:extLst>
              </a:tr>
              <a:tr h="79726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Rehan et al. (2023)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Socialization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Address Multi-lingual Threatening Content Detection (MTCD) using transfer learning with fine-tuning techniques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RoBERTa achieved highest performance: 92% accuracy and 90% macro F1-score with joint multi-lingual approach.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Very limited work in low-resource languages.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61764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2533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79B7A93-0130-40C6-A57B-017BD6351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415088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236F21-A529-4B07-96FB-CD65E519D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688932"/>
            <a:ext cx="8152095" cy="4454568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1200" b="0" i="0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Xing, F. (2025). Designing heterogeneous </a:t>
            </a:r>
            <a:r>
              <a:rPr lang="en-US" sz="1200" b="0" i="0" u="none" strike="noStrike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llm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agents for financial sentiment analysis. </a:t>
            </a:r>
            <a:r>
              <a:rPr lang="en-US" sz="1200" b="0" i="1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ACM Transactions on Management Information Systems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1200" b="0" i="1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(1), 1-24.</a:t>
            </a:r>
          </a:p>
          <a:p>
            <a:pPr marL="11430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Katta, K. (2025). Analyzing User Perceptions of Large Language Models (LLMs) on Reddit: Sentiment and Topic Modeling of </a:t>
            </a:r>
            <a:r>
              <a:rPr lang="en-US" sz="1200" b="0" i="0" u="none" strike="noStrike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ChatGPT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200" b="0" i="0" u="none" strike="noStrike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DeepSeek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Discussions. </a:t>
            </a:r>
            <a:r>
              <a:rPr lang="en-US" sz="1200" b="0" i="1" u="none" strike="noStrike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1200" b="0" i="1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arXiv:2502.18513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2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1200" b="0" i="0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1200" b="0" i="0" u="none" strike="noStrike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Invernici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F., </a:t>
            </a:r>
            <a:r>
              <a:rPr lang="en-US" sz="1200" b="0" i="0" u="none" strike="noStrike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Curati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F., </a:t>
            </a:r>
            <a:r>
              <a:rPr lang="en-US" sz="1200" b="0" i="0" u="none" strike="noStrike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Jakimov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J., </a:t>
            </a:r>
            <a:r>
              <a:rPr lang="en-US" sz="1200" b="0" i="0" u="none" strike="noStrike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Samavi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A., &amp; </a:t>
            </a:r>
            <a:r>
              <a:rPr lang="en-US" sz="1200" b="0" i="0" u="none" strike="noStrike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Bernasconi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A. (2025). Capturing research literature attitude towards sustainable development goals: an LLM-based topic modeling approach. </a:t>
            </a:r>
            <a:r>
              <a:rPr lang="en-US" sz="1200" b="0" i="1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Journal of Big Data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1200" b="0" i="1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(1), 139.</a:t>
            </a:r>
          </a:p>
          <a:p>
            <a:pPr marL="11430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Wahidur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S.,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Tashdeed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I., Kaur, M., &amp; Lee, H. N. (2024). Enhancing zero-shot crypto sentiment with fine-tuned language model and prompt engineering. 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Access, 12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10146-10159.	</a:t>
            </a:r>
          </a:p>
          <a:p>
            <a:pPr marL="11430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Uddin, M. A., &amp;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Sarker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 H. (2024). An explainable transformer-based model for phishing email detection: A large language model approach. 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arXiv:2402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.13871.				</a:t>
            </a:r>
          </a:p>
          <a:p>
            <a:pPr marL="11430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Xu, S., Wu, Z., Zhao, H., Shu, P., Liu, Z., Liao, W., ... &amp; Li, X. (2024). Reasoning before comparison: LLM-enhanced semantic similarity metrics for domain specialized text analysis. 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arXiv:2402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.11398.		</a:t>
            </a:r>
          </a:p>
          <a:p>
            <a:pPr marL="11430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Ghatora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 S., Hosseini, S. E., Pervez, S., Iqbal, M. J., &amp; Shaukat, N. (2024). Sentiment analysis of product reviews using machine learning and pre-trained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and Cognitive Computing, 8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(12), 199.</a:t>
            </a:r>
          </a:p>
          <a:p>
            <a:pPr marL="11430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Thakur, N., Cui, S.,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Knieling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V., Khanna, K., &amp; Shao, M. (2024). Investigation of the misinformation about covid-19 on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youtube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topic modeling, sentiment analysis, and language analysis. 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Computation, 12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(2), 28.		</a:t>
            </a:r>
          </a:p>
          <a:p>
            <a:pPr marL="11430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Miah, M. S. U., Kabir, M. M., Sarwar, T. B., Safran, M.,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Alfarhood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S., &amp;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Mridha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F. (2024). A multimodal approach to cross-lingual sentiment analysis with ensemble of transformer and LLM. 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Reports, 14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(1), 9603.	</a:t>
            </a:r>
          </a:p>
          <a:p>
            <a:pPr marL="11430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Rehan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Malik, M. S. I., &amp;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Jamjoom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M. (2023). Fine-tuning transformer models using transfer learning for multilingual threatening text identification. 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Access, 11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106503-106515.</a:t>
            </a:r>
          </a:p>
          <a:p>
            <a:pPr marL="11430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 marL="11430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798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69" name="Google Shape;169;p29"/>
          <p:cNvSpPr txBox="1"/>
          <p:nvPr/>
        </p:nvSpPr>
        <p:spPr>
          <a:xfrm>
            <a:off x="457200" y="237375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latin typeface="Times New Roman"/>
                <a:ea typeface="Times New Roman"/>
                <a:cs typeface="Times New Roman"/>
                <a:sym typeface="Times New Roman"/>
              </a:rPr>
              <a:t>Research Gap</a:t>
            </a:r>
            <a:endParaRPr sz="28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  <p:sp>
        <p:nvSpPr>
          <p:cNvPr id="171" name="Google Shape;171;p29"/>
          <p:cNvSpPr txBox="1"/>
          <p:nvPr/>
        </p:nvSpPr>
        <p:spPr>
          <a:xfrm>
            <a:off x="1185775" y="1225000"/>
            <a:ext cx="6415500" cy="25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systematic evaluation of </a:t>
            </a: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Bangla sentiment prediction frameworks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combine </a:t>
            </a: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modeling + encoders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LLM-based approaches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 studies largely overlook </a:t>
            </a: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 efficiency and sustainability metrics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(e.g., inference time, energy consumption, carbon footprint).</a:t>
            </a:r>
            <a:b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exploration of how </a:t>
            </a: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translation models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(M2M100) and </a:t>
            </a: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multilingual LLMs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can support Bangla text processing.</a:t>
            </a:r>
            <a:b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Few works integrate </a:t>
            </a: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robust optimization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into the evaluation of sentiment models to capture uncertainty in operational costs.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77" name="Google Shape;177;p30"/>
          <p:cNvSpPr txBox="1"/>
          <p:nvPr/>
        </p:nvSpPr>
        <p:spPr>
          <a:xfrm>
            <a:off x="457200" y="237375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latin typeface="Times New Roman"/>
                <a:ea typeface="Times New Roman"/>
                <a:cs typeface="Times New Roman"/>
                <a:sym typeface="Times New Roman"/>
              </a:rPr>
              <a:t>Research Question</a:t>
            </a:r>
            <a:endParaRPr sz="28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3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12</a:t>
            </a:fld>
            <a:endParaRPr/>
          </a:p>
        </p:txBody>
      </p:sp>
      <p:sp>
        <p:nvSpPr>
          <p:cNvPr id="179" name="Google Shape;179;p30"/>
          <p:cNvSpPr txBox="1"/>
          <p:nvPr/>
        </p:nvSpPr>
        <p:spPr>
          <a:xfrm>
            <a:off x="604650" y="1099375"/>
            <a:ext cx="77193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can </a:t>
            </a: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topic modeling (LDA, BERT-LDA, BERTopic)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LLM-based topic modeling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 effectively combined with encoders (BanglaBERT, XLM-RoBERTa) for Bangla sentiment prediction?</a:t>
            </a:r>
            <a:b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relative performance trade-off between </a:t>
            </a: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modeling + encoder pipelines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 LLM prompting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b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can we design a </a:t>
            </a: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cost-aware evaluation framework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jointly considers accuracy, latency, energy consumption, and carbon emissions?</a:t>
            </a:r>
            <a:b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uncertainty (e.g., fluctuating costs, variable energy prices), which models remain </a:t>
            </a: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robust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sentiment prediction tasks?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85" name="Google Shape;185;p31"/>
          <p:cNvSpPr txBox="1"/>
          <p:nvPr/>
        </p:nvSpPr>
        <p:spPr>
          <a:xfrm>
            <a:off x="457200" y="237375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latin typeface="Times New Roman"/>
                <a:ea typeface="Times New Roman"/>
                <a:cs typeface="Times New Roman"/>
                <a:sym typeface="Times New Roman"/>
              </a:rPr>
              <a:t>Research Objective</a:t>
            </a:r>
            <a:endParaRPr sz="28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3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  <p:sp>
        <p:nvSpPr>
          <p:cNvPr id="187" name="Google Shape;187;p31"/>
          <p:cNvSpPr txBox="1"/>
          <p:nvPr/>
        </p:nvSpPr>
        <p:spPr>
          <a:xfrm>
            <a:off x="1254150" y="1012825"/>
            <a:ext cx="6635700" cy="3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just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 </a:t>
            </a: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comparative framework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Bangla sentiment prediction using: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75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Classical topic modeling + encoders.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LLM-based topic modeling + encoders.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 LLM prompting.</a:t>
            </a:r>
            <a:b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</a:t>
            </a: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robust optimization techniques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into model evaluation to account for operational and sustainability costs.</a:t>
            </a:r>
            <a:b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trade-offs between </a:t>
            </a: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interpretability, modularity, scalability, and efficiency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across different model families.</a:t>
            </a:r>
            <a:b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a benchmark for </a:t>
            </a: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Bangla-specific sentiment prediction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goes beyond accuracy to include </a:t>
            </a: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time, energy, and environmental costs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2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93" name="Google Shape;193;p32"/>
          <p:cNvSpPr txBox="1"/>
          <p:nvPr/>
        </p:nvSpPr>
        <p:spPr>
          <a:xfrm>
            <a:off x="457200" y="237375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latin typeface="Times New Roman"/>
                <a:ea typeface="Times New Roman"/>
                <a:cs typeface="Times New Roman"/>
                <a:sym typeface="Times New Roman"/>
              </a:rPr>
              <a:t>Data Collection</a:t>
            </a:r>
            <a:endParaRPr sz="28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3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14</a:t>
            </a:fld>
            <a:endParaRPr/>
          </a:p>
        </p:txBody>
      </p:sp>
      <p:sp>
        <p:nvSpPr>
          <p:cNvPr id="195" name="Google Shape;195;p32"/>
          <p:cNvSpPr/>
          <p:nvPr/>
        </p:nvSpPr>
        <p:spPr>
          <a:xfrm>
            <a:off x="5039781" y="1544038"/>
            <a:ext cx="1822800" cy="842100"/>
          </a:xfrm>
          <a:prstGeom prst="roundRect">
            <a:avLst>
              <a:gd name="adj" fmla="val 16667"/>
            </a:avLst>
          </a:prstGeom>
          <a:solidFill>
            <a:srgbClr val="CFD9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2"/>
          <p:cNvSpPr txBox="1"/>
          <p:nvPr/>
        </p:nvSpPr>
        <p:spPr>
          <a:xfrm>
            <a:off x="5375651" y="1699238"/>
            <a:ext cx="1443900" cy="5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Facebook Rumor post links are collected manually from the "Rumor Scanner" website.</a:t>
            </a:r>
            <a:endParaRPr sz="100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32"/>
          <p:cNvSpPr/>
          <p:nvPr/>
        </p:nvSpPr>
        <p:spPr>
          <a:xfrm>
            <a:off x="5039781" y="3171370"/>
            <a:ext cx="1854900" cy="852900"/>
          </a:xfrm>
          <a:prstGeom prst="roundRect">
            <a:avLst>
              <a:gd name="adj" fmla="val 16667"/>
            </a:avLst>
          </a:prstGeom>
          <a:solidFill>
            <a:srgbClr val="CFD9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2"/>
          <p:cNvSpPr txBox="1"/>
          <p:nvPr/>
        </p:nvSpPr>
        <p:spPr>
          <a:xfrm>
            <a:off x="5375662" y="3387681"/>
            <a:ext cx="1561500" cy="4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(such as posts, comments, etc.) about Facebook Rumor Post links are extracted using a web scraper.</a:t>
            </a:r>
            <a:endParaRPr sz="100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32"/>
          <p:cNvSpPr/>
          <p:nvPr/>
        </p:nvSpPr>
        <p:spPr>
          <a:xfrm>
            <a:off x="1929732" y="1890035"/>
            <a:ext cx="1788300" cy="1788300"/>
          </a:xfrm>
          <a:prstGeom prst="arc">
            <a:avLst>
              <a:gd name="adj1" fmla="val 16200000"/>
              <a:gd name="adj2" fmla="val 5298411"/>
            </a:avLst>
          </a:prstGeom>
          <a:noFill/>
          <a:ln w="19050" cap="flat" cmpd="sng">
            <a:solidFill>
              <a:srgbClr val="A5B7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0" name="Google Shape;200;p32"/>
          <p:cNvGrpSpPr/>
          <p:nvPr/>
        </p:nvGrpSpPr>
        <p:grpSpPr>
          <a:xfrm>
            <a:off x="2066866" y="2063002"/>
            <a:ext cx="1443832" cy="1443832"/>
            <a:chOff x="5681300" y="2527788"/>
            <a:chExt cx="805800" cy="805800"/>
          </a:xfrm>
        </p:grpSpPr>
        <p:sp>
          <p:nvSpPr>
            <p:cNvPr id="201" name="Google Shape;201;p32"/>
            <p:cNvSpPr/>
            <p:nvPr/>
          </p:nvSpPr>
          <p:spPr>
            <a:xfrm>
              <a:off x="5681300" y="2527788"/>
              <a:ext cx="805800" cy="805800"/>
            </a:xfrm>
            <a:prstGeom prst="ellipse">
              <a:avLst/>
            </a:prstGeom>
            <a:solidFill>
              <a:srgbClr val="BFBFBF"/>
            </a:solidFill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32"/>
            <p:cNvSpPr/>
            <p:nvPr/>
          </p:nvSpPr>
          <p:spPr>
            <a:xfrm>
              <a:off x="5681300" y="2527788"/>
              <a:ext cx="805800" cy="805800"/>
            </a:xfrm>
            <a:prstGeom prst="pie">
              <a:avLst>
                <a:gd name="adj1" fmla="val 0"/>
                <a:gd name="adj2" fmla="val 1620000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3" name="Google Shape;203;p32"/>
          <p:cNvGrpSpPr/>
          <p:nvPr/>
        </p:nvGrpSpPr>
        <p:grpSpPr>
          <a:xfrm>
            <a:off x="4731270" y="1581822"/>
            <a:ext cx="745204" cy="766799"/>
            <a:chOff x="5681300" y="2527788"/>
            <a:chExt cx="805800" cy="805800"/>
          </a:xfrm>
        </p:grpSpPr>
        <p:sp>
          <p:nvSpPr>
            <p:cNvPr id="204" name="Google Shape;204;p32"/>
            <p:cNvSpPr/>
            <p:nvPr/>
          </p:nvSpPr>
          <p:spPr>
            <a:xfrm>
              <a:off x="5681300" y="2527788"/>
              <a:ext cx="805800" cy="8058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32"/>
            <p:cNvSpPr/>
            <p:nvPr/>
          </p:nvSpPr>
          <p:spPr>
            <a:xfrm>
              <a:off x="5681300" y="2527788"/>
              <a:ext cx="805800" cy="805800"/>
            </a:xfrm>
            <a:prstGeom prst="pie">
              <a:avLst>
                <a:gd name="adj1" fmla="val 12271918"/>
                <a:gd name="adj2" fmla="val 1620000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 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6" name="Google Shape;206;p32"/>
          <p:cNvGrpSpPr/>
          <p:nvPr/>
        </p:nvGrpSpPr>
        <p:grpSpPr>
          <a:xfrm>
            <a:off x="4731374" y="3209108"/>
            <a:ext cx="756002" cy="756002"/>
            <a:chOff x="5681300" y="2527788"/>
            <a:chExt cx="805800" cy="805800"/>
          </a:xfrm>
        </p:grpSpPr>
        <p:sp>
          <p:nvSpPr>
            <p:cNvPr id="207" name="Google Shape;207;p32"/>
            <p:cNvSpPr/>
            <p:nvPr/>
          </p:nvSpPr>
          <p:spPr>
            <a:xfrm>
              <a:off x="5681300" y="2527788"/>
              <a:ext cx="805800" cy="8058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32"/>
            <p:cNvSpPr/>
            <p:nvPr/>
          </p:nvSpPr>
          <p:spPr>
            <a:xfrm>
              <a:off x="5681300" y="2527788"/>
              <a:ext cx="805800" cy="805800"/>
            </a:xfrm>
            <a:prstGeom prst="pie">
              <a:avLst>
                <a:gd name="adj1" fmla="val 5544305"/>
                <a:gd name="adj2" fmla="val 1620000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 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9" name="Google Shape;209;p32"/>
          <p:cNvSpPr/>
          <p:nvPr/>
        </p:nvSpPr>
        <p:spPr>
          <a:xfrm>
            <a:off x="2720231" y="1824610"/>
            <a:ext cx="137100" cy="137100"/>
          </a:xfrm>
          <a:prstGeom prst="ellipse">
            <a:avLst/>
          </a:prstGeom>
          <a:solidFill>
            <a:srgbClr val="667E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2"/>
          <p:cNvSpPr/>
          <p:nvPr/>
        </p:nvSpPr>
        <p:spPr>
          <a:xfrm>
            <a:off x="2720231" y="3608135"/>
            <a:ext cx="137100" cy="137100"/>
          </a:xfrm>
          <a:prstGeom prst="ellipse">
            <a:avLst/>
          </a:prstGeom>
          <a:solidFill>
            <a:srgbClr val="667E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32"/>
          <p:cNvSpPr/>
          <p:nvPr/>
        </p:nvSpPr>
        <p:spPr>
          <a:xfrm>
            <a:off x="3648281" y="2716373"/>
            <a:ext cx="137100" cy="137100"/>
          </a:xfrm>
          <a:prstGeom prst="ellipse">
            <a:avLst/>
          </a:prstGeom>
          <a:solidFill>
            <a:srgbClr val="667E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32"/>
          <p:cNvCxnSpPr/>
          <p:nvPr/>
        </p:nvCxnSpPr>
        <p:spPr>
          <a:xfrm rot="10800000" flipH="1">
            <a:off x="3785381" y="1992023"/>
            <a:ext cx="945900" cy="792900"/>
          </a:xfrm>
          <a:prstGeom prst="bentConnector3">
            <a:avLst>
              <a:gd name="adj1" fmla="val 51494"/>
            </a:avLst>
          </a:prstGeom>
          <a:noFill/>
          <a:ln w="19050" cap="flat" cmpd="sng">
            <a:solidFill>
              <a:srgbClr val="A5B7C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3" name="Google Shape;213;p32"/>
          <p:cNvCxnSpPr/>
          <p:nvPr/>
        </p:nvCxnSpPr>
        <p:spPr>
          <a:xfrm>
            <a:off x="3785381" y="2784923"/>
            <a:ext cx="945900" cy="791400"/>
          </a:xfrm>
          <a:prstGeom prst="bentConnector3">
            <a:avLst>
              <a:gd name="adj1" fmla="val 49999"/>
            </a:avLst>
          </a:prstGeom>
          <a:noFill/>
          <a:ln w="19050" cap="flat" cmpd="sng">
            <a:solidFill>
              <a:srgbClr val="A5B7C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4" name="Google Shape;214;p32"/>
          <p:cNvCxnSpPr/>
          <p:nvPr/>
        </p:nvCxnSpPr>
        <p:spPr>
          <a:xfrm rot="10800000" flipH="1">
            <a:off x="3785381" y="2773223"/>
            <a:ext cx="471300" cy="11700"/>
          </a:xfrm>
          <a:prstGeom prst="bentConnector3">
            <a:avLst>
              <a:gd name="adj1" fmla="val 50015"/>
            </a:avLst>
          </a:prstGeom>
          <a:noFill/>
          <a:ln w="19050" cap="flat" cmpd="sng">
            <a:solidFill>
              <a:srgbClr val="A5B7C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5" name="Google Shape;215;p32"/>
          <p:cNvSpPr txBox="1"/>
          <p:nvPr/>
        </p:nvSpPr>
        <p:spPr>
          <a:xfrm>
            <a:off x="2204826" y="2471578"/>
            <a:ext cx="1167900" cy="6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Semi-automatic</a:t>
            </a:r>
            <a:endParaRPr sz="160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3"/>
          <p:cNvSpPr/>
          <p:nvPr/>
        </p:nvSpPr>
        <p:spPr>
          <a:xfrm>
            <a:off x="624450" y="504600"/>
            <a:ext cx="7895100" cy="4134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latin typeface="Algerian"/>
                <a:ea typeface="Algerian"/>
                <a:cs typeface="Algerian"/>
                <a:sym typeface="Algerian"/>
              </a:rPr>
              <a:t>TOPIC MODELING</a:t>
            </a:r>
            <a:endParaRPr sz="6000"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221" name="Google Shape;221;p3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4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27" name="Google Shape;227;p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16</a:t>
            </a:fld>
            <a:endParaRPr/>
          </a:p>
        </p:txBody>
      </p:sp>
      <p:graphicFrame>
        <p:nvGraphicFramePr>
          <p:cNvPr id="228" name="Google Shape;228;p34"/>
          <p:cNvGraphicFramePr/>
          <p:nvPr/>
        </p:nvGraphicFramePr>
        <p:xfrm>
          <a:off x="1368600" y="1089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{BDFBC736-CA73-4E13-BD2D-A71C48047175}</a:tableStyleId>
              </a:tblPr>
              <a:tblGrid>
                <a:gridCol w="1790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1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Embedding-based topic modeling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LDA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BERT-LDA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BERTopic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LLMs for prompting-based topic modeling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Phi 3.5 Mini / MoE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Jamba Mini 1.5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4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DeepSeek distillations (DS Qwen 14B / 32B, DS Llama 8B / 70B)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Llama 3.1 8B / 70B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Qwen 2.5 7B / 72B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5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34" name="Google Shape;234;p3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17</a:t>
            </a:fld>
            <a:endParaRPr/>
          </a:p>
        </p:txBody>
      </p:sp>
      <p:graphicFrame>
        <p:nvGraphicFramePr>
          <p:cNvPr id="235" name="Google Shape;235;p35"/>
          <p:cNvGraphicFramePr/>
          <p:nvPr/>
        </p:nvGraphicFramePr>
        <p:xfrm>
          <a:off x="311675" y="844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{D84BCD99-8B60-4B87-9191-8B358D1FCD26}</a:tableStyleId>
              </a:tblPr>
              <a:tblGrid>
                <a:gridCol w="98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8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15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Fundamentals &amp; Assumptions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Advantages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1100"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LDA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(Latent Dirichlet Allocation)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69999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Generative probabilistic model.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Each document = mixture of latent topics; each topic = distribution over words.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Assumes bag-of-words independence (word order ignored).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69999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Unsupervised and language-agnostic – requires no annotated data, making it suitable for low-resource languages like Bangla.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Interpretable topic-word distributions.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Stronger generalization than pLSI/LSA via Dirichlet priors.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69999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Ignores semantics, context, and word order.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Requires predefined number of topics.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Performs poorly on short texts.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9525"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BERT-LDA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(BERT + LDA Hybrid)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69999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Uses contextual embeddings (BERT) to improve semantic coherence.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Assumes embeddings capture meaning better than raw co-occurrence.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69999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Addresses LDA’s limitation: lack of semantics.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Produces more coherent topics (groups synonyms/related phrases).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Better performance on short texts.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69999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Resource-intensive (embedding + clustering).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Still needs bag-of-words for topic labeling. </a:t>
                      </a:r>
                      <a:b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6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41" name="Google Shape;241;p3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18</a:t>
            </a:fld>
            <a:endParaRPr/>
          </a:p>
        </p:txBody>
      </p:sp>
      <p:graphicFrame>
        <p:nvGraphicFramePr>
          <p:cNvPr id="242" name="Google Shape;242;p36"/>
          <p:cNvGraphicFramePr/>
          <p:nvPr/>
        </p:nvGraphicFramePr>
        <p:xfrm>
          <a:off x="346800" y="52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{D84BCD99-8B60-4B87-9191-8B358D1FCD26}</a:tableStyleId>
              </a:tblPr>
              <a:tblGrid>
                <a:gridCol w="98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8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5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15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Fundamentals &amp; Assumptions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Advantages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3175"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BERTopic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(Embedding-based Topic Model)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69999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Clusters transformer embeddings of documents.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Uses class-based TF–IDF (c-TF-IDF) for topic labels.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69999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Addresses BERT-LDA’s complexity: integrates clustering + labeling in one pipeline.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topic coherence.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Modular (any embedding model can be plugged in).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Handles dynamic topics over time.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69999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Assigns one dominant topic per document.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Still bag-of-words for topic labels → misses phrase-level nuance.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Heavy computation for huge datasets.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9525"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Phi 3.5 (Mini &amp; MoE)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69999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Small language models (SLMs) with transformer backbone.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Mini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 efficient, 3.8B params, 128k context.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MoE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 16 experts, ~42B total, ~6.6B active per inference.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69999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Addresses BERTopic’s limitation: non-generative, limited reasoning.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Strong reasoning/coding ability despite small size.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MoE balances performance vs efficiency.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69999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Bangla is not explicitly listed; for Bangla, it might occasionally produce awkward phrasing or rely on more general knowledge. 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Smaller models still lack deep world knowledge.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MoE adds deployment complexity.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48" name="Google Shape;248;p3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19</a:t>
            </a:fld>
            <a:endParaRPr/>
          </a:p>
        </p:txBody>
      </p:sp>
      <p:graphicFrame>
        <p:nvGraphicFramePr>
          <p:cNvPr id="249" name="Google Shape;249;p37"/>
          <p:cNvGraphicFramePr/>
          <p:nvPr/>
        </p:nvGraphicFramePr>
        <p:xfrm>
          <a:off x="234188" y="52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{D84BCD99-8B60-4B87-9191-8B358D1FCD26}</a:tableStyleId>
              </a:tblPr>
              <a:tblGrid>
                <a:gridCol w="117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15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Fundamentals &amp; Assumptions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Advantages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3175"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Jamba 1.5 Mini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(AI21Labs)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Hybrid architecture: Transformer + State-Space Model (SSM).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Supports </a:t>
                      </a: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256k context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(longest among peers).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Addresses Phi-3.5’s limitation: limited context.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State-of-the-art long document analysis.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Faster decoding efficiency for long inputs.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Bangla was not explicitly listed as a supported language. 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Complex architecture (MoE + SSM).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Very high hardware requirements for large models.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9525"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DeepSeek Distillations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(DS Qwen-14B/32B &amp; DS Llama-8B/70B)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Knowledge distilled from a huge </a:t>
                      </a: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671B MoE teacher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into smaller Qwen/Llama bases.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Focus on reasoning and chain-of-thought.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Efficient reasoning in multiple languages (like Bangla).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Addresses Jamba’s limitation: weaker reasoning compared to distilled teacher knowledge.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Superior reasoning at smaller scale.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Performs step-by-step problem solving well. </a:t>
                      </a:r>
                      <a:b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Bias and flaws from the teacher model can transfer.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Still large (8B–70B), not lightweight.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8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55" name="Google Shape;255;p3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20</a:t>
            </a:fld>
            <a:endParaRPr/>
          </a:p>
        </p:txBody>
      </p:sp>
      <p:graphicFrame>
        <p:nvGraphicFramePr>
          <p:cNvPr id="256" name="Google Shape;256;p38"/>
          <p:cNvGraphicFramePr/>
          <p:nvPr/>
        </p:nvGraphicFramePr>
        <p:xfrm>
          <a:off x="234188" y="52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{D84BCD99-8B60-4B87-9191-8B358D1FCD26}</a:tableStyleId>
              </a:tblPr>
              <a:tblGrid>
                <a:gridCol w="1042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8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6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15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Fundamentals &amp; Assumptions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Advantages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3175"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Llama 3.1 (8B / 70B)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Meta’s dense LLM is trained on 15T tokens.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Instruction-tuned with 10M curated examples.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128k context.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general intelligence and strong multilingual abilities (for its supported languages)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Addresses DeepSeek’s limitation: narrow focus on reasoning.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Balanced general-purpose model.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Strong ecosystem + fine-tuning support.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Resource-heavy (esp. 70B).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Slightly behind Qwen in multilingual/code benchmarks.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9525"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Qwen 2.5 (7B / 72B)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Trained on </a:t>
                      </a: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18T tokens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(largest among peers). </a:t>
                      </a:r>
                      <a:b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Strong multilingual + coding specialization. </a:t>
                      </a:r>
                      <a:b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32k context.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State-of-the-art multilingual performance and multimodality: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Qwen-2.5-72B is one of the most capable open models as of 2025.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Addresses Llama 3.1’s limitation: not top in multilingual/code tasks.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State-of-the-art open-source performance.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Excels at reasoning, coding, and multilingual tasks.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72B model requires heavy computing.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Proprietary MoE versions only via API.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9"/>
          <p:cNvSpPr/>
          <p:nvPr/>
        </p:nvSpPr>
        <p:spPr>
          <a:xfrm>
            <a:off x="624450" y="504600"/>
            <a:ext cx="7895100" cy="4134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latin typeface="Algerian"/>
                <a:ea typeface="Algerian"/>
                <a:cs typeface="Algerian"/>
                <a:sym typeface="Algerian"/>
              </a:rPr>
              <a:t>sENTIMENT ANALYSIS</a:t>
            </a:r>
            <a:endParaRPr sz="6000"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262" name="Google Shape;262;p3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0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68" name="Google Shape;268;p4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22</a:t>
            </a:fld>
            <a:endParaRPr/>
          </a:p>
        </p:txBody>
      </p:sp>
      <p:graphicFrame>
        <p:nvGraphicFramePr>
          <p:cNvPr id="269" name="Google Shape;269;p40"/>
          <p:cNvGraphicFramePr/>
          <p:nvPr/>
        </p:nvGraphicFramePr>
        <p:xfrm>
          <a:off x="1323550" y="1540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{BDFBC736-CA73-4E13-BD2D-A71C48047175}</a:tableStyleId>
              </a:tblPr>
              <a:tblGrid>
                <a:gridCol w="169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Encoder models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BanglaBERT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XLM-RoBERTa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LMs for prompting-based sentiment analysis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DeepSeek distillations (DS Qwen 14B / 32B, DS Llama 8B / 70B)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Llama 3.1 8B / 70B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Qwen 2.5 7B / 72B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1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75" name="Google Shape;275;p4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23</a:t>
            </a:fld>
            <a:endParaRPr/>
          </a:p>
        </p:txBody>
      </p:sp>
      <p:graphicFrame>
        <p:nvGraphicFramePr>
          <p:cNvPr id="276" name="Google Shape;276;p41"/>
          <p:cNvGraphicFramePr/>
          <p:nvPr/>
        </p:nvGraphicFramePr>
        <p:xfrm>
          <a:off x="234188" y="52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{D84BCD99-8B60-4B87-9191-8B358D1FCD26}</a:tableStyleId>
              </a:tblPr>
              <a:tblGrid>
                <a:gridCol w="1042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15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Fundamentals &amp; Assumptions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Advantages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3175"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BanglaBERT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60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Monolingual BERT-base encoder trained only on Bangla text.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60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Uses masked language modeling.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60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Assumes Bangla-only training captures better syntax and semantics than multilingual.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60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Directly overcomes the limitation of generic multilingual models that lacked Bangla depth.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60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Strong grasp of Bangla vocabulary and grammar.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60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Higher accuracy on Bangla sentiment tasks.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60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Lightweight (~110M params) and easy to fine-tune.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60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Poor at handling Banglish (Bangla + English mix).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60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Struggles with transliterated Bangla.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60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to 512 tokens.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60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generative or reasoning ability.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9525"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XLM-RoBERTa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60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Multilingual RoBERTa encoder trained on 100 languages (including Bangla).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60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Uses shared subword vocabulary for cross-lingual transfer.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60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Assumes high-resource languages can boost low-resource languages.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60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Overcomes BanglaBERT’s limitation of </a:t>
                      </a: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poor handling of code-mixing and transliteration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60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Covers Bangla plus related languages, improving mixed text handling.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60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Bangla is underrepresented in its training → misses idioms/slang.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60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Still context-limited (~512 tokens).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60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Not tuned specifically for Bangla sentiment out of the box.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2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82" name="Google Shape;282;p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24</a:t>
            </a:fld>
            <a:endParaRPr/>
          </a:p>
        </p:txBody>
      </p:sp>
      <p:graphicFrame>
        <p:nvGraphicFramePr>
          <p:cNvPr id="283" name="Google Shape;283;p42"/>
          <p:cNvGraphicFramePr/>
          <p:nvPr/>
        </p:nvGraphicFramePr>
        <p:xfrm>
          <a:off x="234188" y="52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{D84BCD99-8B60-4B87-9191-8B358D1FCD26}</a:tableStyleId>
              </a:tblPr>
              <a:tblGrid>
                <a:gridCol w="1042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5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15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Fundamentals &amp; Assumptions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Advantages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3175"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DeepSeek Distillations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(DS Qwen-14B/32B &amp; DS Llama-8B/70B)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Distilled models using Qwen or Llama backbones.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Knowledge distilled from reasoning-heavy training.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Assumes reasoning skill transfers to multiple languages.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Overcomes XLM-R’s limitation of </a:t>
                      </a: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capacity and short context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Longer context windows → handles full Bangla threads or articles.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Strong reasoning → can detect sarcasm or irony in Bangla sentiment.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Efficient open-source models easier to adapt than massive dense LMs.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69999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Not natively trained on Bangla → needs extra fine-tuning.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Larger models still require significant compute.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Misses some idiomatic Bangla cues unless adapted.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9525"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Llama 3.1 (8B / 70B)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Next-gen Transformer (8B–405B params).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Trained on large multilingual corpora, with 128K context.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Assumes massive scale + instruction tuning = superior multilingual performance.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Overcomes DeepSeek’s limitation of </a:t>
                      </a: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Bangla exposure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Trained on broader language data → stronger Bangla fluency.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Detects subtle sentiment shifts and sarcasm in Bangla.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Can analyze entire long documents or conversations.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69999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Very large (70B+ params) → costly to run.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Bangla still less represented than English/Chinese.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Improvements in sentiment classification may be marginal over smaller tuned models.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3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89" name="Google Shape;289;p4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25</a:t>
            </a:fld>
            <a:endParaRPr/>
          </a:p>
        </p:txBody>
      </p:sp>
      <p:graphicFrame>
        <p:nvGraphicFramePr>
          <p:cNvPr id="290" name="Google Shape;290;p43"/>
          <p:cNvGraphicFramePr/>
          <p:nvPr/>
        </p:nvGraphicFramePr>
        <p:xfrm>
          <a:off x="234175" y="1017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{D84BCD99-8B60-4B87-9191-8B358D1FCD26}</a:tableStyleId>
              </a:tblPr>
              <a:tblGrid>
                <a:gridCol w="1042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8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6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15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Fundamentals &amp; Assumptions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Advantages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3175"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Qwen 2.5 (7B / 72B)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Alibaba’s efficient LLM family (up to 72B params).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Long context (128K), optimized training to rival larger models.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Assumes efficiency + smart training can outperform larger dense models.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Overcomes Llama 3.1’s limitation of </a:t>
                      </a: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impractical scale and deployment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Nearly state-of-the-art Bangla understanding at smaller size.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Long context helps with lengthy sentiment-rich Bangla texts.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Easier to fine-tune and deploy than 70B–405B Llama models.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Training still focused mainly on Chinese/English → Bangla needs fine-tuning.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Subword tokenization may fragment Bangla words.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Char char="●"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72B model still resource-demanding for small labs.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4"/>
          <p:cNvSpPr/>
          <p:nvPr/>
        </p:nvSpPr>
        <p:spPr>
          <a:xfrm>
            <a:off x="624450" y="504600"/>
            <a:ext cx="7895100" cy="4134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latin typeface="Algerian"/>
                <a:ea typeface="Algerian"/>
                <a:cs typeface="Algerian"/>
                <a:sym typeface="Algerian"/>
              </a:rPr>
              <a:t>Combination for Sentiment Classification</a:t>
            </a:r>
            <a:endParaRPr sz="6000"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296" name="Google Shape;296;p4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5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02" name="Google Shape;302;p45"/>
          <p:cNvSpPr txBox="1"/>
          <p:nvPr/>
        </p:nvSpPr>
        <p:spPr>
          <a:xfrm>
            <a:off x="457200" y="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latin typeface="Times New Roman"/>
                <a:ea typeface="Times New Roman"/>
                <a:cs typeface="Times New Roman"/>
                <a:sym typeface="Times New Roman"/>
              </a:rPr>
              <a:t>Combination for Sentiment Classification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" name="Google Shape;303;p4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27</a:t>
            </a:fld>
            <a:endParaRPr/>
          </a:p>
        </p:txBody>
      </p:sp>
      <p:graphicFrame>
        <p:nvGraphicFramePr>
          <p:cNvPr id="304" name="Google Shape;304;p45"/>
          <p:cNvGraphicFramePr/>
          <p:nvPr/>
        </p:nvGraphicFramePr>
        <p:xfrm>
          <a:off x="1585913" y="852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{BDFBC736-CA73-4E13-BD2D-A71C48047175}</a:tableStyleId>
              </a:tblPr>
              <a:tblGrid>
                <a:gridCol w="82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No.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Combination for Sentiment Classification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Topic Modeling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Sentiment analysis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LDA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BanglaBERT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LDA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XLM-RoBERTa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BERT-LDA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BanglaBERT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BERT-LDA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XLM-RoBERTa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BERTopic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BanglaBERT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BERTopic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XLM-RoBERTa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Phi 3.5 Mini 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BanglaBERT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Phi 3.5 Mini 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XLM-RoBERTa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6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10" name="Google Shape;310;p4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28</a:t>
            </a:fld>
            <a:endParaRPr/>
          </a:p>
        </p:txBody>
      </p:sp>
      <p:graphicFrame>
        <p:nvGraphicFramePr>
          <p:cNvPr id="311" name="Google Shape;311;p46"/>
          <p:cNvGraphicFramePr/>
          <p:nvPr/>
        </p:nvGraphicFramePr>
        <p:xfrm>
          <a:off x="1585913" y="852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{BDFBC736-CA73-4E13-BD2D-A71C48047175}</a:tableStyleId>
              </a:tblPr>
              <a:tblGrid>
                <a:gridCol w="82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No.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Combination for Sentiment Classification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Topic Modeling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Sentiment analysis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Phi 3.5 MoE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BanglaBERT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Phi 3.5 MoE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XLM-RoBERTa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Jamba Mini 1.5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BanglaBERT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Jamba Mini 1.5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XLM-RoBERTa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DeepSeek DS Qwen 14B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BanglaBERT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DeepSeek DS Qwen 14B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XLM-RoBERTa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DeepSeek DS Qwen 32B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BanglaBERT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DeepSeek DS Qwen 32B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XLM-RoBERTa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7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17" name="Google Shape;317;p4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29</a:t>
            </a:fld>
            <a:endParaRPr/>
          </a:p>
        </p:txBody>
      </p:sp>
      <p:graphicFrame>
        <p:nvGraphicFramePr>
          <p:cNvPr id="318" name="Google Shape;318;p47"/>
          <p:cNvGraphicFramePr/>
          <p:nvPr/>
        </p:nvGraphicFramePr>
        <p:xfrm>
          <a:off x="1585913" y="852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{BDFBC736-CA73-4E13-BD2D-A71C48047175}</a:tableStyleId>
              </a:tblPr>
              <a:tblGrid>
                <a:gridCol w="82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No.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Combination for Sentiment Classification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Topic Modeling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Sentiment analysis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DeepSeek DS Llama 8B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BanglaBERT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DeepSeek DS Llama 8B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XLM-RoBERTa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DeepSeek DS Llama 70B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BanglaBERT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DeepSeek DS Llama 70B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XLM-RoBERTa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Llama 3.1 8B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BanglaBERT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Llama 3.1 8B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XLM-RoBERTa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Llama 3.1 70B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BanglaBERT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Llama 3.1 70B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XLM-RoBERTa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30</a:t>
            </a:fld>
            <a:endParaRPr/>
          </a:p>
        </p:txBody>
      </p:sp>
      <p:graphicFrame>
        <p:nvGraphicFramePr>
          <p:cNvPr id="324" name="Google Shape;324;p48"/>
          <p:cNvGraphicFramePr/>
          <p:nvPr/>
        </p:nvGraphicFramePr>
        <p:xfrm>
          <a:off x="1585913" y="852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{BDFBC736-CA73-4E13-BD2D-A71C48047175}</a:tableStyleId>
              </a:tblPr>
              <a:tblGrid>
                <a:gridCol w="82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No.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Combination for Sentiment Classification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Topic Modeling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Sentiment analysis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Qwen 2.5 7B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BanglaBERT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Qwen 2.5 7B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XLM-RoBERTa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Qwen 2.5 72B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BanglaBERT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Qwen 2.5 72B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XLM-RoBERTa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DeepSeek DS Qwen 14B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DeepSeek DS Qwen 32B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DeepSeek DS Llama 8B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DeepSeek DS Llama 70B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9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30" name="Google Shape;330;p4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31</a:t>
            </a:fld>
            <a:endParaRPr/>
          </a:p>
        </p:txBody>
      </p:sp>
      <p:graphicFrame>
        <p:nvGraphicFramePr>
          <p:cNvPr id="331" name="Google Shape;331;p49"/>
          <p:cNvGraphicFramePr/>
          <p:nvPr/>
        </p:nvGraphicFramePr>
        <p:xfrm>
          <a:off x="1510838" y="1468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{BDFBC736-CA73-4E13-BD2D-A71C48047175}</a:tableStyleId>
              </a:tblPr>
              <a:tblGrid>
                <a:gridCol w="82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No.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Combination for Sentiment Classification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Topic Modeling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Sentiment analysis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Llama 3.1 8B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34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Llama 3.1 70B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Qwen 2.5 7B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Qwen 2.5 72B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0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37" name="Google Shape;337;p50"/>
          <p:cNvSpPr txBox="1"/>
          <p:nvPr/>
        </p:nvSpPr>
        <p:spPr>
          <a:xfrm>
            <a:off x="457200" y="237375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latin typeface="Times New Roman"/>
                <a:ea typeface="Times New Roman"/>
                <a:cs typeface="Times New Roman"/>
                <a:sym typeface="Times New Roman"/>
              </a:rPr>
              <a:t>Metrics</a:t>
            </a:r>
            <a:endParaRPr sz="28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" name="Google Shape;338;p5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32</a:t>
            </a:fld>
            <a:endParaRPr/>
          </a:p>
        </p:txBody>
      </p:sp>
      <p:sp>
        <p:nvSpPr>
          <p:cNvPr id="339" name="Google Shape;339;p50"/>
          <p:cNvSpPr/>
          <p:nvPr/>
        </p:nvSpPr>
        <p:spPr>
          <a:xfrm>
            <a:off x="1021000" y="1216200"/>
            <a:ext cx="6996900" cy="36186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Usual metrics: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Accuracy, Precision, Recall, F1, Confusion Matrix.</a:t>
            </a:r>
            <a:b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Limitation: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Ignore </a:t>
            </a:r>
            <a:r>
              <a:rPr lang="en-GB" sz="12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time, energy, carbon, and cost of misclassification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approach: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Robust optimization framework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combining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Latency (             ) </a:t>
            </a:r>
            <a:r>
              <a:rPr lang="en-GB" sz="1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(Strubell et al., 2020)</a:t>
            </a:r>
            <a:b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Energy (             )  </a:t>
            </a:r>
            <a:r>
              <a:rPr lang="en-GB" sz="1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(Strubell et al., 2020)</a:t>
            </a:r>
            <a:b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Carbon footprint (             ) </a:t>
            </a:r>
            <a:r>
              <a:rPr lang="en-GB" sz="1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(Lannelongue et al., 2021)</a:t>
            </a:r>
            <a:b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Cost-sensitive errors (                        ​) </a:t>
            </a:r>
            <a:r>
              <a:rPr lang="en-GB" sz="1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>
                <a:solidFill>
                  <a:srgbClr val="0000F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Elkan, 2001</a:t>
            </a:r>
            <a:r>
              <a:rPr lang="en-GB" sz="1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Ensures model choice is </a:t>
            </a:r>
            <a:r>
              <a:rPr lang="en-GB" sz="12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robust under uncertainty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(e.g., fluctuating costs, carbon pricing).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a </a:t>
            </a:r>
            <a:r>
              <a:rPr lang="en-GB" sz="12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holistic evaluation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accuracy + efficiency + sustainability + impact.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0" name="Google Shape;34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0001" y="2571750"/>
            <a:ext cx="411400" cy="20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2599" y="2984674"/>
            <a:ext cx="411400" cy="187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27321" y="3400877"/>
            <a:ext cx="411400" cy="1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43623" y="3784926"/>
            <a:ext cx="870275" cy="35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1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49" name="Google Shape;349;p51"/>
          <p:cNvSpPr txBox="1"/>
          <p:nvPr/>
        </p:nvSpPr>
        <p:spPr>
          <a:xfrm>
            <a:off x="457200" y="19810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latin typeface="Times New Roman"/>
                <a:ea typeface="Times New Roman"/>
                <a:cs typeface="Times New Roman"/>
                <a:sym typeface="Times New Roman"/>
              </a:rPr>
              <a:t>Notations</a:t>
            </a:r>
            <a:endParaRPr sz="28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" name="Google Shape;350;p5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33</a:t>
            </a:fld>
            <a:endParaRPr/>
          </a:p>
        </p:txBody>
      </p:sp>
      <p:pic>
        <p:nvPicPr>
          <p:cNvPr id="351" name="Google Shape;35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4263" y="808275"/>
            <a:ext cx="5815486" cy="39113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2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57" name="Google Shape;357;p52"/>
          <p:cNvSpPr txBox="1"/>
          <p:nvPr/>
        </p:nvSpPr>
        <p:spPr>
          <a:xfrm>
            <a:off x="457200" y="13995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latin typeface="Times New Roman"/>
                <a:ea typeface="Times New Roman"/>
                <a:cs typeface="Times New Roman"/>
                <a:sym typeface="Times New Roman"/>
              </a:rPr>
              <a:t>Robust Optimization Formulation</a:t>
            </a:r>
            <a:endParaRPr sz="28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8" name="Google Shape;358;p52"/>
          <p:cNvSpPr txBox="1">
            <a:spLocks noGrp="1"/>
          </p:cNvSpPr>
          <p:nvPr>
            <p:ph type="sldNum" idx="12"/>
          </p:nvPr>
        </p:nvSpPr>
        <p:spPr>
          <a:xfrm>
            <a:off x="7007650" y="4853588"/>
            <a:ext cx="2057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34</a:t>
            </a:fld>
            <a:endParaRPr/>
          </a:p>
        </p:txBody>
      </p:sp>
      <p:sp>
        <p:nvSpPr>
          <p:cNvPr id="359" name="Google Shape;359;p52"/>
          <p:cNvSpPr txBox="1"/>
          <p:nvPr/>
        </p:nvSpPr>
        <p:spPr>
          <a:xfrm>
            <a:off x="775200" y="798650"/>
            <a:ext cx="75936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 Interval Definitions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each weight has uncertainty: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0" name="Google Shape;360;p52"/>
          <p:cNvSpPr txBox="1"/>
          <p:nvPr/>
        </p:nvSpPr>
        <p:spPr>
          <a:xfrm>
            <a:off x="775200" y="1602550"/>
            <a:ext cx="7593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2: Robust (min–max) Formulation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" name="Google Shape;361;p52"/>
          <p:cNvSpPr txBox="1"/>
          <p:nvPr/>
        </p:nvSpPr>
        <p:spPr>
          <a:xfrm>
            <a:off x="775200" y="2371650"/>
            <a:ext cx="75936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3: MILP Formulation (if discrete models)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Introduce binary decision variables: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2" name="Google Shape;362;p52"/>
          <p:cNvSpPr txBox="1"/>
          <p:nvPr/>
        </p:nvSpPr>
        <p:spPr>
          <a:xfrm>
            <a:off x="775200" y="31214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Then: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3" name="Google Shape;363;p52"/>
          <p:cNvSpPr txBox="1"/>
          <p:nvPr/>
        </p:nvSpPr>
        <p:spPr>
          <a:xfrm>
            <a:off x="775200" y="34089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 to: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4" name="Google Shape;364;p52"/>
          <p:cNvSpPr txBox="1"/>
          <p:nvPr/>
        </p:nvSpPr>
        <p:spPr>
          <a:xfrm>
            <a:off x="775200" y="3851875"/>
            <a:ext cx="75936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4: Linearization (Robust Counterpart)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intervals, the worst-case objective simplifies: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" name="Google Shape;365;p52"/>
          <p:cNvSpPr txBox="1"/>
          <p:nvPr/>
        </p:nvSpPr>
        <p:spPr>
          <a:xfrm>
            <a:off x="775200" y="45732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the robust counterpart is: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6" name="Google Shape;36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9479" y="1159559"/>
            <a:ext cx="4104797" cy="27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00850" y="1968075"/>
            <a:ext cx="3942289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34203" y="2655838"/>
            <a:ext cx="1795190" cy="46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8400" y="3121412"/>
            <a:ext cx="3000000" cy="417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5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15175" y="3538601"/>
            <a:ext cx="1072237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5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41824" y="4210399"/>
            <a:ext cx="4480604" cy="36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5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776370" y="4593892"/>
            <a:ext cx="2683430" cy="41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3"/>
          <p:cNvSpPr txBox="1"/>
          <p:nvPr/>
        </p:nvSpPr>
        <p:spPr>
          <a:xfrm>
            <a:off x="311700" y="1118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78" name="Google Shape;378;p53"/>
          <p:cNvSpPr txBox="1"/>
          <p:nvPr/>
        </p:nvSpPr>
        <p:spPr>
          <a:xfrm>
            <a:off x="457200" y="78525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latin typeface="Times New Roman"/>
                <a:ea typeface="Times New Roman"/>
                <a:cs typeface="Times New Roman"/>
                <a:sym typeface="Times New Roman"/>
              </a:rPr>
              <a:t>Expected Outcome</a:t>
            </a:r>
            <a:endParaRPr sz="28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p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35</a:t>
            </a:fld>
            <a:endParaRPr/>
          </a:p>
        </p:txBody>
      </p:sp>
      <p:sp>
        <p:nvSpPr>
          <p:cNvPr id="380" name="Google Shape;380;p53"/>
          <p:cNvSpPr txBox="1"/>
          <p:nvPr/>
        </p:nvSpPr>
        <p:spPr>
          <a:xfrm>
            <a:off x="1569450" y="1226388"/>
            <a:ext cx="6005100" cy="26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➢"/>
            </a:pPr>
            <a:r>
              <a:rPr lang="en-GB" sz="1100">
                <a:solidFill>
                  <a:schemeClr val="dk1"/>
                </a:solidFill>
              </a:rPr>
              <a:t>Benchmark of </a:t>
            </a:r>
            <a:r>
              <a:rPr lang="en-GB" sz="1100" b="1">
                <a:solidFill>
                  <a:schemeClr val="dk1"/>
                </a:solidFill>
              </a:rPr>
              <a:t>36 model configurations</a:t>
            </a:r>
            <a:r>
              <a:rPr lang="en-GB" sz="1100">
                <a:solidFill>
                  <a:schemeClr val="dk1"/>
                </a:solidFill>
              </a:rPr>
              <a:t> for Bangla sentiment prediction.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➢"/>
            </a:pPr>
            <a:r>
              <a:rPr lang="en-GB" sz="1100" b="1">
                <a:solidFill>
                  <a:schemeClr val="dk1"/>
                </a:solidFill>
              </a:rPr>
              <a:t>LLM-based topic modeling + encoders</a:t>
            </a:r>
            <a:r>
              <a:rPr lang="en-GB" sz="1100">
                <a:solidFill>
                  <a:schemeClr val="dk1"/>
                </a:solidFill>
              </a:rPr>
              <a:t> → richer embeddings, higher accuracy.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➢"/>
            </a:pPr>
            <a:r>
              <a:rPr lang="en-GB" sz="1100" b="1">
                <a:solidFill>
                  <a:schemeClr val="dk1"/>
                </a:solidFill>
              </a:rPr>
              <a:t>Direct LLM prompting</a:t>
            </a:r>
            <a:r>
              <a:rPr lang="en-GB" sz="1100">
                <a:solidFill>
                  <a:schemeClr val="dk1"/>
                </a:solidFill>
              </a:rPr>
              <a:t> → competitive accuracy but </a:t>
            </a:r>
            <a:r>
              <a:rPr lang="en-GB" sz="1100" b="1">
                <a:solidFill>
                  <a:schemeClr val="dk1"/>
                </a:solidFill>
              </a:rPr>
              <a:t>higher cost</a:t>
            </a:r>
            <a:r>
              <a:rPr lang="en-GB" sz="1100">
                <a:solidFill>
                  <a:schemeClr val="dk1"/>
                </a:solidFill>
              </a:rPr>
              <a:t> (latency, energy).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➢"/>
            </a:pPr>
            <a:r>
              <a:rPr lang="en-GB" sz="1100" b="1">
                <a:solidFill>
                  <a:schemeClr val="dk1"/>
                </a:solidFill>
              </a:rPr>
              <a:t>BanglaBERT</a:t>
            </a:r>
            <a:r>
              <a:rPr lang="en-GB" sz="1100">
                <a:solidFill>
                  <a:schemeClr val="dk1"/>
                </a:solidFill>
              </a:rPr>
              <a:t> outperforms XLM-RoBERTa in Bangla-only tasks.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➢"/>
            </a:pPr>
            <a:r>
              <a:rPr lang="en-GB" sz="1100">
                <a:solidFill>
                  <a:schemeClr val="dk1"/>
                </a:solidFill>
              </a:rPr>
              <a:t>Novel </a:t>
            </a:r>
            <a:r>
              <a:rPr lang="en-GB" sz="1100" b="1">
                <a:solidFill>
                  <a:schemeClr val="dk1"/>
                </a:solidFill>
              </a:rPr>
              <a:t>cost-aware evaluation framework</a:t>
            </a:r>
            <a:r>
              <a:rPr lang="en-GB" sz="1100">
                <a:solidFill>
                  <a:schemeClr val="dk1"/>
                </a:solidFill>
              </a:rPr>
              <a:t> (accuracy + time + energy + carbon).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➢"/>
            </a:pPr>
            <a:r>
              <a:rPr lang="en-GB" sz="1100">
                <a:solidFill>
                  <a:schemeClr val="dk1"/>
                </a:solidFill>
              </a:rPr>
              <a:t>Practical </a:t>
            </a:r>
            <a:r>
              <a:rPr lang="en-GB" sz="1100" b="1">
                <a:solidFill>
                  <a:schemeClr val="dk1"/>
                </a:solidFill>
              </a:rPr>
              <a:t>deployment guidelines</a:t>
            </a:r>
            <a:r>
              <a:rPr lang="en-GB" sz="1100">
                <a:solidFill>
                  <a:schemeClr val="dk1"/>
                </a:solidFill>
              </a:rPr>
              <a:t> balancing accuracy and efficiency.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➢"/>
            </a:pPr>
            <a:r>
              <a:rPr lang="en-GB" sz="1100">
                <a:solidFill>
                  <a:schemeClr val="dk1"/>
                </a:solidFill>
              </a:rPr>
              <a:t>Framework generalizable to other </a:t>
            </a:r>
            <a:r>
              <a:rPr lang="en-GB" sz="1100" b="1">
                <a:solidFill>
                  <a:schemeClr val="dk1"/>
                </a:solidFill>
              </a:rPr>
              <a:t>low-resource languages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4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86" name="Google Shape;386;p54"/>
          <p:cNvSpPr txBox="1"/>
          <p:nvPr/>
        </p:nvSpPr>
        <p:spPr>
          <a:xfrm>
            <a:off x="457200" y="237375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28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7" name="Google Shape;387;p5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36</a:t>
            </a:fld>
            <a:endParaRPr/>
          </a:p>
        </p:txBody>
      </p:sp>
      <p:sp>
        <p:nvSpPr>
          <p:cNvPr id="388" name="Google Shape;388;p54"/>
          <p:cNvSpPr txBox="1"/>
          <p:nvPr/>
        </p:nvSpPr>
        <p:spPr>
          <a:xfrm>
            <a:off x="1175700" y="1345650"/>
            <a:ext cx="67926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Demonstrated that </a:t>
            </a: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LLM-based topic modeling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provides richer embeddings, improving downstream sentiment classification compared to classical topic modeling.</a:t>
            </a:r>
            <a:b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➢"/>
            </a:pP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BanglaBERT and XLM-RoBERTa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perform strongly when paired with LDA/BERT-LDA/BERTopic, ensuring high accuracy with moderate cost.</a:t>
            </a:r>
            <a:b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 </a:t>
            </a: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 prompting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achieves competitive performance but at significantly higher </a:t>
            </a: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latency and energy costs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robust cost-aware evaluation framework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highlights that the “best” model depends not only on accuracy but also on </a:t>
            </a: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deployment constraints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(e.g., real-time vs. batch processing).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5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94" name="Google Shape;394;p55"/>
          <p:cNvSpPr txBox="1"/>
          <p:nvPr/>
        </p:nvSpPr>
        <p:spPr>
          <a:xfrm>
            <a:off x="457200" y="237375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latin typeface="Times New Roman"/>
                <a:ea typeface="Times New Roman"/>
                <a:cs typeface="Times New Roman"/>
                <a:sym typeface="Times New Roman"/>
              </a:rPr>
              <a:t>Future Works</a:t>
            </a:r>
            <a:endParaRPr sz="28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5" name="Google Shape;395;p5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37</a:t>
            </a:fld>
            <a:endParaRPr/>
          </a:p>
        </p:txBody>
      </p:sp>
      <p:sp>
        <p:nvSpPr>
          <p:cNvPr id="396" name="Google Shape;396;p55"/>
          <p:cNvSpPr txBox="1"/>
          <p:nvPr/>
        </p:nvSpPr>
        <p:spPr>
          <a:xfrm>
            <a:off x="311700" y="1028700"/>
            <a:ext cx="8520600" cy="33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 evaluation to </a:t>
            </a: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stance detection 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(support, deny, query, comment) alongside sentiment (positive, negative, neutral).</a:t>
            </a:r>
            <a:b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Explore knowledge </a:t>
            </a: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distillation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parameter-efficient tuning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(LoRA, adapters) to reduce LLM inference cost for Bangla text.</a:t>
            </a:r>
            <a:b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Incorporate </a:t>
            </a: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graph-based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multi-modal features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(e.g., network propagation, images, videos) for richer rumor analysis.</a:t>
            </a:r>
            <a:b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the framework on </a:t>
            </a: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real-world Bangla social media datasets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evolving rumor events.</a:t>
            </a:r>
            <a:b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an </a:t>
            </a: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open-source benchmark toolkit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cost-aware sentiment prediction in low-resource languages.</a:t>
            </a:r>
            <a:b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6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02" name="Google Shape;402;p56"/>
          <p:cNvSpPr txBox="1"/>
          <p:nvPr/>
        </p:nvSpPr>
        <p:spPr>
          <a:xfrm>
            <a:off x="457200" y="237375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latin typeface="Times New Roman"/>
                <a:ea typeface="Times New Roman"/>
                <a:cs typeface="Times New Roman"/>
                <a:sym typeface="Times New Roman"/>
              </a:rPr>
              <a:t> References</a:t>
            </a:r>
            <a:endParaRPr sz="28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3" name="Google Shape;403;p5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38</a:t>
            </a:fld>
            <a:endParaRPr/>
          </a:p>
        </p:txBody>
      </p:sp>
      <p:sp>
        <p:nvSpPr>
          <p:cNvPr id="404" name="Google Shape;404;p56"/>
          <p:cNvSpPr txBox="1"/>
          <p:nvPr/>
        </p:nvSpPr>
        <p:spPr>
          <a:xfrm>
            <a:off x="493350" y="1003625"/>
            <a:ext cx="81573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GB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Strubell, E., Ganesh, A., &amp; McCallum, A. (2020, April). Energy and policy considerations for modern deep learning research. In </a:t>
            </a:r>
            <a:r>
              <a:rPr lang="en-GB" sz="1200" i="1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Proceedings of the AAAI conference on artificial intelligence</a:t>
            </a:r>
            <a:r>
              <a:rPr lang="en-GB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(Vol. 34, No. 09, pp. 13693-13696).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GB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Lannelongue, L., Grealey, J., &amp; Inouye, M. (2021). Green algorithms: quantifying the carbon footprint of computation. </a:t>
            </a:r>
            <a:r>
              <a:rPr lang="en-GB" sz="1200" i="1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Advanced science</a:t>
            </a:r>
            <a:r>
              <a:rPr lang="en-GB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1200" i="1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(12), 2100707.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GB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Elkan, C. (2001, August). The foundations of cost-sensitive learning. In </a:t>
            </a:r>
            <a:r>
              <a:rPr lang="en-GB" sz="1200" i="1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International joint conference on artificial intelligence</a:t>
            </a:r>
            <a:r>
              <a:rPr lang="en-GB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(Vol. 17, No. 1, pp. 973-978). Lawrence Erlbaum Associates Ltd.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4316</Words>
  <Application>Microsoft Office PowerPoint</Application>
  <PresentationFormat>On-screen Show (16:9)</PresentationFormat>
  <Paragraphs>599</Paragraphs>
  <Slides>38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Economica</vt:lpstr>
      <vt:lpstr>Arial</vt:lpstr>
      <vt:lpstr>Times New Roman</vt:lpstr>
      <vt:lpstr>Algerian</vt:lpstr>
      <vt:lpstr>Calibri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Table 1: Data collection information, features, and tools used in recent studies</vt:lpstr>
      <vt:lpstr>Cont’d…</vt:lpstr>
      <vt:lpstr>Table 2: Areas, objectives, results, and limitations of recent studies</vt:lpstr>
      <vt:lpstr>Cont’d…</vt:lpstr>
      <vt:lpstr>Cont’d…</vt:lpstr>
      <vt:lpstr>References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Sanjida Hassan</cp:lastModifiedBy>
  <cp:revision>10</cp:revision>
  <dcterms:modified xsi:type="dcterms:W3CDTF">2025-09-14T12:56:30Z</dcterms:modified>
</cp:coreProperties>
</file>