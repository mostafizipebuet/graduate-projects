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8"/>
  </p:notesMasterIdLst>
  <p:sldIdLst>
    <p:sldId id="301" r:id="rId3"/>
    <p:sldId id="30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Economica" panose="020B0604020202020204" charset="0"/>
      <p:regular r:id="rId54"/>
      <p:bold r:id="rId55"/>
      <p:italic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AA5FAB-A5EE-45B8-A7DA-BDBDD667AB4C}">
  <a:tblStyle styleId="{0CAA5FAB-A5EE-45B8-A7DA-BDBDD667AB4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EB211D3-2732-4261-953B-9E89059BB5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2C0EA6-A505-4250-B67E-AABAAA7F04E4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021b6d384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g38021b6d384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021b6d384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8021b6d384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021b6d38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8021b6d38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021b6d384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8021b6d384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021b6d38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8021b6d38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021b6d38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4" name="Google Shape;474;g38021b6d38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8021b6d38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38021b6d38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8021b6d384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g38021b6d384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617770DD-88D9-4D55-AFF5-D8FB085AD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400" y="129600"/>
            <a:ext cx="545256" cy="54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801CA-F2E2-4A5A-ADFB-C667618BF7A8}"/>
              </a:ext>
            </a:extLst>
          </p:cNvPr>
          <p:cNvSpPr txBox="1"/>
          <p:nvPr/>
        </p:nvSpPr>
        <p:spPr>
          <a:xfrm>
            <a:off x="1177200" y="1860187"/>
            <a:ext cx="689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Framework for Bangla Sentiment Analysis: Accuracy, Efficiency, and Sustainability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D98E9-241C-4AB7-B8F7-2C24D1D25F57}"/>
              </a:ext>
            </a:extLst>
          </p:cNvPr>
          <p:cNvSpPr txBox="1"/>
          <p:nvPr/>
        </p:nvSpPr>
        <p:spPr>
          <a:xfrm>
            <a:off x="2230200" y="603394"/>
            <a:ext cx="492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Course No: IPE 6107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Course Title : Machine learning 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FAF8E3-DDA3-4C4A-A14A-2E3ABCCDA6B9}"/>
              </a:ext>
            </a:extLst>
          </p:cNvPr>
          <p:cNvSpPr txBox="1"/>
          <p:nvPr/>
        </p:nvSpPr>
        <p:spPr>
          <a:xfrm>
            <a:off x="5076000" y="3283313"/>
            <a:ext cx="37368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 – 15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0424082030 –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Mostafizur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 Khan(Team Leader)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0424082027 – Nayan Nath 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0423082006 – Sourav Paul </a:t>
            </a:r>
          </a:p>
          <a:p>
            <a:pPr lvl="1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0423082116 –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Sanjida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Hassan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F81DCA-F8BF-492F-84B4-611C4676AA6D}"/>
              </a:ext>
            </a:extLst>
          </p:cNvPr>
          <p:cNvSpPr txBox="1"/>
          <p:nvPr/>
        </p:nvSpPr>
        <p:spPr>
          <a:xfrm>
            <a:off x="1238400" y="3283313"/>
            <a:ext cx="3837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8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lvl="8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Ridwan Al Aziz</a:t>
            </a:r>
          </a:p>
          <a:p>
            <a:pPr lvl="8" algn="just"/>
            <a:r>
              <a:rPr 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University of Engineering and Technology (BUET)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2470639" y="530931"/>
            <a:ext cx="4202700" cy="572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algn="bl" rotWithShape="0">
              <a:srgbClr val="8FFFFF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1265906" y="1591396"/>
            <a:ext cx="31647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the study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4917583" y="1591395"/>
            <a:ext cx="3164700" cy="2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sz="32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❑"/>
            </a:pPr>
            <a:r>
              <a:rPr lang="en-GB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>
            <a:spLocks noGrp="1"/>
          </p:cNvSpPr>
          <p:nvPr>
            <p:ph type="sldNum" idx="12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2399850" y="2366051"/>
            <a:ext cx="4344300" cy="10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595077" y="1180662"/>
            <a:ext cx="52707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digital landscape of Bangladesh, where over 93% of internet users engage on Facebook, the spread of unverified information has become a prevalent concern.  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individual sentiments toward these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rumors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crucial to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rumor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propagation dynamics, necessitating nuanced categorization into positive, negative, or neutral reactions. Here, ‘sentiment’ refers to whether a comment on a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rumor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 expresses positive, negative, or neutral emotion.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26"/>
          <p:cNvGrpSpPr/>
          <p:nvPr/>
        </p:nvGrpSpPr>
        <p:grpSpPr>
          <a:xfrm>
            <a:off x="6108492" y="1089824"/>
            <a:ext cx="2639575" cy="2353613"/>
            <a:chOff x="1197023" y="1520687"/>
            <a:chExt cx="3150226" cy="2595515"/>
          </a:xfrm>
        </p:grpSpPr>
        <p:sp>
          <p:nvSpPr>
            <p:cNvPr id="141" name="Google Shape;141;p26"/>
            <p:cNvSpPr/>
            <p:nvPr/>
          </p:nvSpPr>
          <p:spPr>
            <a:xfrm>
              <a:off x="2395534" y="3572052"/>
              <a:ext cx="753905" cy="429087"/>
            </a:xfrm>
            <a:custGeom>
              <a:avLst/>
              <a:gdLst/>
              <a:ahLst/>
              <a:cxnLst/>
              <a:rect l="l" t="t" r="r" b="b"/>
              <a:pathLst>
                <a:path w="29834" h="17416" extrusionOk="0">
                  <a:moveTo>
                    <a:pt x="2511" y="0"/>
                  </a:moveTo>
                  <a:lnTo>
                    <a:pt x="0" y="17416"/>
                  </a:lnTo>
                  <a:lnTo>
                    <a:pt x="29833" y="17416"/>
                  </a:lnTo>
                  <a:lnTo>
                    <a:pt x="27003" y="0"/>
                  </a:ln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133633" y="4054309"/>
              <a:ext cx="1277045" cy="61893"/>
            </a:xfrm>
            <a:custGeom>
              <a:avLst/>
              <a:gdLst/>
              <a:ahLst/>
              <a:cxnLst/>
              <a:rect l="l" t="t" r="r" b="b"/>
              <a:pathLst>
                <a:path w="50536" h="1256" extrusionOk="0">
                  <a:moveTo>
                    <a:pt x="1" y="1"/>
                  </a:moveTo>
                  <a:lnTo>
                    <a:pt x="1" y="1256"/>
                  </a:lnTo>
                  <a:lnTo>
                    <a:pt x="50536" y="1256"/>
                  </a:lnTo>
                  <a:lnTo>
                    <a:pt x="50536" y="1"/>
                  </a:ln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2133641" y="3992441"/>
              <a:ext cx="1277045" cy="61889"/>
            </a:xfrm>
            <a:custGeom>
              <a:avLst/>
              <a:gdLst/>
              <a:ahLst/>
              <a:cxnLst/>
              <a:rect l="l" t="t" r="r" b="b"/>
              <a:pathLst>
                <a:path w="50536" h="2512" extrusionOk="0">
                  <a:moveTo>
                    <a:pt x="10363" y="1"/>
                  </a:moveTo>
                  <a:lnTo>
                    <a:pt x="1" y="2512"/>
                  </a:lnTo>
                  <a:lnTo>
                    <a:pt x="50536" y="2512"/>
                  </a:lnTo>
                  <a:lnTo>
                    <a:pt x="401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1197023" y="3342369"/>
              <a:ext cx="3150226" cy="275028"/>
            </a:xfrm>
            <a:custGeom>
              <a:avLst/>
              <a:gdLst/>
              <a:ahLst/>
              <a:cxnLst/>
              <a:rect l="l" t="t" r="r" b="b"/>
              <a:pathLst>
                <a:path w="116524" h="11163" extrusionOk="0">
                  <a:moveTo>
                    <a:pt x="0" y="1"/>
                  </a:moveTo>
                  <a:lnTo>
                    <a:pt x="0" y="6369"/>
                  </a:lnTo>
                  <a:cubicBezTo>
                    <a:pt x="0" y="9017"/>
                    <a:pt x="2169" y="11162"/>
                    <a:pt x="4816" y="11162"/>
                  </a:cubicBezTo>
                  <a:lnTo>
                    <a:pt x="111707" y="11162"/>
                  </a:lnTo>
                  <a:cubicBezTo>
                    <a:pt x="114355" y="11162"/>
                    <a:pt x="116523" y="9017"/>
                    <a:pt x="116523" y="6369"/>
                  </a:cubicBezTo>
                  <a:lnTo>
                    <a:pt x="1165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1197023" y="1520687"/>
              <a:ext cx="3150226" cy="1830324"/>
            </a:xfrm>
            <a:custGeom>
              <a:avLst/>
              <a:gdLst/>
              <a:ahLst/>
              <a:cxnLst/>
              <a:rect l="l" t="t" r="r" b="b"/>
              <a:pathLst>
                <a:path w="116524" h="65258" extrusionOk="0">
                  <a:moveTo>
                    <a:pt x="112209" y="3766"/>
                  </a:moveTo>
                  <a:lnTo>
                    <a:pt x="112209" y="61218"/>
                  </a:lnTo>
                  <a:lnTo>
                    <a:pt x="4314" y="61218"/>
                  </a:lnTo>
                  <a:lnTo>
                    <a:pt x="4314" y="3766"/>
                  </a:lnTo>
                  <a:close/>
                  <a:moveTo>
                    <a:pt x="4839" y="0"/>
                  </a:moveTo>
                  <a:cubicBezTo>
                    <a:pt x="2169" y="0"/>
                    <a:pt x="0" y="2169"/>
                    <a:pt x="0" y="4839"/>
                  </a:cubicBezTo>
                  <a:lnTo>
                    <a:pt x="0" y="65258"/>
                  </a:lnTo>
                  <a:lnTo>
                    <a:pt x="116523" y="65258"/>
                  </a:lnTo>
                  <a:lnTo>
                    <a:pt x="116523" y="4839"/>
                  </a:lnTo>
                  <a:cubicBezTo>
                    <a:pt x="116523" y="2169"/>
                    <a:pt x="114355" y="0"/>
                    <a:pt x="111684" y="0"/>
                  </a:cubicBez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2715111" y="3421323"/>
              <a:ext cx="114802" cy="112495"/>
            </a:xfrm>
            <a:custGeom>
              <a:avLst/>
              <a:gdLst/>
              <a:ahLst/>
              <a:cxnLst/>
              <a:rect l="l" t="t" r="r" b="b"/>
              <a:pathLst>
                <a:path w="4543" h="4566" extrusionOk="0">
                  <a:moveTo>
                    <a:pt x="2260" y="1"/>
                  </a:moveTo>
                  <a:cubicBezTo>
                    <a:pt x="1005" y="1"/>
                    <a:pt x="1" y="1028"/>
                    <a:pt x="1" y="2283"/>
                  </a:cubicBezTo>
                  <a:cubicBezTo>
                    <a:pt x="1" y="3539"/>
                    <a:pt x="1005" y="4566"/>
                    <a:pt x="2260" y="4566"/>
                  </a:cubicBezTo>
                  <a:cubicBezTo>
                    <a:pt x="3516" y="4566"/>
                    <a:pt x="4543" y="3539"/>
                    <a:pt x="4543" y="2283"/>
                  </a:cubicBezTo>
                  <a:cubicBezTo>
                    <a:pt x="4543" y="1028"/>
                    <a:pt x="3516" y="1"/>
                    <a:pt x="2260" y="1"/>
                  </a:cubicBezTo>
                  <a:close/>
                </a:path>
              </a:pathLst>
            </a:custGeom>
            <a:solidFill>
              <a:srgbClr val="8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7" name="Google Shape;147;p26" descr="A screenshot of a social media pos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2237" y="1191523"/>
            <a:ext cx="2474524" cy="14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 descr="A screenshot of a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238" y="3371580"/>
            <a:ext cx="60007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6" descr="A screenshot of a blue scree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6584" y="3609167"/>
            <a:ext cx="173355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57200" y="4042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1112250" y="1297725"/>
            <a:ext cx="69195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media in Bangladesh is a primary channel for spreading information, but also for misinformation and rumors.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(positive, negative, neutral)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key to analyzing rumor propagation and public opinion.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sentiment analysis methods mainly focus on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accuracy-based evaluation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ignoring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deployment costs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such as latency, energy use, and carbon emissions.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advances in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Bangla-specific encoders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opportunities to improve both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usability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 b="0" i="0" u="none" strike="noStrike" cap="none" dirty="0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Literature Review</a:t>
            </a:r>
            <a:endParaRPr sz="6000" b="0" i="0" u="none" strike="noStrike" cap="none" dirty="0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63" name="Google Shape;163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628650" y="82391"/>
            <a:ext cx="7886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Table 1: </a:t>
            </a:r>
            <a:r>
              <a:rPr lang="en-GB" sz="16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collection information, features, and tools used in recent studies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9" name="Google Shape;169;p29"/>
          <p:cNvGraphicFramePr/>
          <p:nvPr/>
        </p:nvGraphicFramePr>
        <p:xfrm>
          <a:off x="51925" y="513413"/>
          <a:ext cx="9040150" cy="4324525"/>
        </p:xfrm>
        <a:graphic>
          <a:graphicData uri="http://schemas.openxmlformats.org/drawingml/2006/table">
            <a:tbl>
              <a:tblPr firstRow="1" bandRow="1">
                <a:noFill/>
                <a:tableStyleId>{0CAA5FAB-A5EE-45B8-A7DA-BDBDD667AB4C}</a:tableStyleId>
              </a:tblPr>
              <a:tblGrid>
                <a:gridCol w="40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7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9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 platform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 way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 population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Considerable Features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Tools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Xing (2025)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News and social media platforms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Six FSA datasets (FPB, StockSen, CMC, FiQA, SEntFiN and FinEntity)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32835 datapoints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Financial news, social media posts and forum discussions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Heterogeneous LLM agents framework, summative agent reasoning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Katta (2025)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Reddit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AsyncPRAW (Asynchronous Python Reddit API Wrapper) library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10733 entries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Reddit comments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analysis, LDA (Latent Dirichlet Allocation), word frequency approach, topic modeling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Invernici et al. (2025)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Academic literature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Scopus database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Hundreds of thousands of documents (scientific abstracts, 2006-2023)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Abstracts and their metadata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BERTopic, LLM-based embeddings, hyperparameter optimizer, TETYS dashboard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Wahidur et al. 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Social media platforms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Neo dataset, Bitcoin sentiment dataset, Reddit dataset and Cryptocurrency sentiment dataset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14091 tweets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Sentiment, tweet, posts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Microsoft's MiniLM (distilled BERT), Google's FLAN-T5, instruction-based fine-tuning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6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Uddin &amp; Sarker 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Real-world phishing email dataset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Sourced from Kaggle website.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11,322 legitimate Emails and 7,328 phishing Emails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content, class imbalance, positive and negative contribution scores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RoBERTa</a:t>
                      </a:r>
                      <a:r>
                        <a:rPr lang="en-GB" sz="11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(fine-tuned), LITA (LIME-Transformer Attribution), LIME, Transformers Interpret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7034675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7815450" y="-5110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  <p:graphicFrame>
        <p:nvGraphicFramePr>
          <p:cNvPr id="176" name="Google Shape;176;p30"/>
          <p:cNvGraphicFramePr/>
          <p:nvPr/>
        </p:nvGraphicFramePr>
        <p:xfrm>
          <a:off x="85025" y="236738"/>
          <a:ext cx="8973950" cy="4670000"/>
        </p:xfrm>
        <a:graphic>
          <a:graphicData uri="http://schemas.openxmlformats.org/drawingml/2006/table">
            <a:tbl>
              <a:tblPr firstRow="1" bandRow="1">
                <a:noFill/>
                <a:tableStyleId>{0CAA5FAB-A5EE-45B8-A7DA-BDBDD667AB4C}</a:tableStyleId>
              </a:tblPr>
              <a:tblGrid>
                <a:gridCol w="39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0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5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 platform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collection way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Study population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Considerable Features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Applied Tools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Xu et al.(2024)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MIMIC-CXR dataset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mentioned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 radiology reports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Semantic similarity, text labels, clinical ground truth alignment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GPT-4, zero-shot learning framework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Ghatora et al. 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 product reviews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Sourced from Kaggle website.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205,052 records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Product name, product price, rate, review, summary and sentiment (positive, negative and neutral).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Forest, Naive Bayes, SVM, GPT-4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Thakur et al. 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YouTube (with cross-platform analysis on Facebook and Twitter)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YouTube video descriptions analysis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8122 videos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Four distinct themes: Promotion/Outreach, Treatment, Conspiracy Theories, Politics; sentiment distribution, language diversity, sharing patterns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modeling, topic-specific sentiment analysis, language detection, correlation analysis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Miah et al. (2024)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specified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SemEval-2017 Task 4: Sentiment Analysis in Twitter, amazon_reviews_multi, DEFT 2017, and SENTIPOLC 2016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8375 datapoints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polarity (positive, negative, neutral), cross-lingual analysis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LibreTranslate, Google Translate, Twitter-Roberta-Base-Sentiment-Latest, bert-base-multilingual-uncased-sentiment, GPT-3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9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Rehan et al. (2023)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Twitter and YouTube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mentioned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Urdu 2400 tweets and english 1313 posts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Tweets and comments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MuRIL, RoBERTa, transfer learning, fine-tuning, manual search and grid search for hyper-parameters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14325" y="43116"/>
            <a:ext cx="85155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 b="1">
                <a:latin typeface="Times New Roman"/>
                <a:ea typeface="Times New Roman"/>
                <a:cs typeface="Times New Roman"/>
                <a:sym typeface="Times New Roman"/>
              </a:rPr>
              <a:t>Table 2: 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Areas, objectives, results, and limitations of recent studies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" name="Google Shape;183;p31"/>
          <p:cNvGraphicFramePr/>
          <p:nvPr/>
        </p:nvGraphicFramePr>
        <p:xfrm>
          <a:off x="69100" y="412629"/>
          <a:ext cx="9005800" cy="4495300"/>
        </p:xfrm>
        <a:graphic>
          <a:graphicData uri="http://schemas.openxmlformats.org/drawingml/2006/table">
            <a:tbl>
              <a:tblPr firstRow="1" bandRow="1">
                <a:noFill/>
                <a:tableStyleId>{0CAA5FAB-A5EE-45B8-A7DA-BDBDD667AB4C}</a:tableStyleId>
              </a:tblPr>
              <a:tblGrid>
                <a:gridCol w="39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0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8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 of application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of the study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Xing (2025)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Investigate the effectiveness of using LLMs without fine-tuning for financial sentiment analysis through heterogeneous LLM agents framework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accuracies compared to alternative multi-LLM agent settings, especially when discussion contents are substantial.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Since LLM-based prediction is slower and costlier than statistical analysis, this makes large multi-agent systems less practical.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Katta (2025)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Socialization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Analyze Reddit discussions about ChatGPT and DeepSeek using sentiment and topic modeling to understand user attitudes and public perception of LLMs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significant topics including trust in AI, user expectations, potential uses, reservations about AI biases, and ethical implications. Provides insights into public sentiment shaping AI development direction.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analysis is restricted to Reddit discussions.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Invernici et al. (2025)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Teaching and Learning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 a completely automated pipeline to uncover discussions on SDGs within research literature using topic modeling techniques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Successfully identified hundreds of topics on hundreds of thousands of documents. Captured insights on evolution of attitude toward SDGs in scientific abstracts (2006-2023). Produced interactive visualizations of topics' temporal evolution.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in a high-dimensional latent space may yield overlapping topics.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6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Wahidur et al. 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improve sentiment analysis for cryptocurrency market prediction by testing fine-tuning methods on DistilBERT, MiniLM, and FLAN-T5, focusing on instruction type, model size, and data scale.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 average zero-shot performance gain after fine-tuning. Larger models achieved 75.16% accuracy. Short instructions: 72.38% accuracy (12% better than complex instructions).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Smaller-scale models may experience reduced generalization due to complete model capacity utilization.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4" name="Google Shape;184;p31"/>
          <p:cNvSpPr txBox="1">
            <a:spLocks noGrp="1"/>
          </p:cNvSpPr>
          <p:nvPr>
            <p:ph type="sldNum" idx="12"/>
          </p:nvPr>
        </p:nvSpPr>
        <p:spPr>
          <a:xfrm>
            <a:off x="7017500" y="4987618"/>
            <a:ext cx="2057400" cy="1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" name="Google Shape;189;p32"/>
          <p:cNvGraphicFramePr/>
          <p:nvPr/>
        </p:nvGraphicFramePr>
        <p:xfrm>
          <a:off x="61239" y="707460"/>
          <a:ext cx="9021525" cy="3901548"/>
        </p:xfrm>
        <a:graphic>
          <a:graphicData uri="http://schemas.openxmlformats.org/drawingml/2006/table">
            <a:tbl>
              <a:tblPr firstRow="1" bandRow="1">
                <a:noFill/>
                <a:tableStyleId>{0CAA5FAB-A5EE-45B8-A7DA-BDBDD667AB4C}</a:tableStyleId>
              </a:tblPr>
              <a:tblGrid>
                <a:gridCol w="39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 of application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of the study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Uddin &amp; Sarker 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 a fine-tuned transformer-based language model (RoBERTa) for detecting phishing emails and propose a hybrid explanation approach for model transparency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Fine-tuned model achieves high accuracy in phishing email classification. LITA provides user-friendly insights and solves disagreement issues between LIME and Transformers Interpret approaches.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 of multilingual and phishing email datasets.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Xu et al.(2024)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 Care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Leverage LLM to enhance semantic analysis and develop similarity metrics for texts, addressing limitations of traditional unsupervised NLP metrics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GPT-4 generated labels significantly improve semantic similarity assessment with scores more closely aligned with clinical ground truth than traditional NLP metrics (ROUGE, BLEU).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Framework tested only on radiology reports; generalizability to other specialized domains needs validation.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4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Ghatora et al. 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Explore the application of traditional machine learning and pre-trained LLMs for automated sentiment analysis of customer product reviews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Traditional models (especially SVM) better for short texts. GPT-4 showed superior performance with detailed texts, capturing subtle sentiments with higher precision, recall, and F1 scores. GPT-4 uniquely identified mixed sentiments not found in simpler models.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research relied on a public dataset, which may not reflect the nuances of private organizational data.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  <p:sp>
        <p:nvSpPr>
          <p:cNvPr id="191" name="Google Shape;191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33"/>
          <p:cNvGraphicFramePr/>
          <p:nvPr/>
        </p:nvGraphicFramePr>
        <p:xfrm>
          <a:off x="139763" y="683885"/>
          <a:ext cx="8864475" cy="3980423"/>
        </p:xfrm>
        <a:graphic>
          <a:graphicData uri="http://schemas.openxmlformats.org/drawingml/2006/table">
            <a:tbl>
              <a:tblPr firstRow="1" bandRow="1">
                <a:noFill/>
                <a:tableStyleId>{0CAA5FAB-A5EE-45B8-A7DA-BDBDD667AB4C}</a:tableStyleId>
              </a:tblPr>
              <a:tblGrid>
                <a:gridCol w="39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Article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 of application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 of the study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0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Thakur et al. 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Socialization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Analyze misinformation about COVID-19 on YouTube through topic modeling, sentiment analysis, language analysis, and cross-platform sharing patterns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themes identified. Sentiment analysis: Promotion (45.8% neutral, 39.8% positive); Treatment (38.1% positive, 31.3% neutral); Conspiracy (46.9% positive, 31.0% neutral); Politics (35.7% positive, 32.9% negative). English videos shared most on Facebook/Twitter. Significant correlation between video title length and social media shares.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May not capture the full scope of misinformation dynamics across other social media platforms such as Facebook or TikTok.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Miah et al. (2024)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Miscellaneous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 an ensemble model of transformers and LLM for sentiment analysis of foreign languages by translating them into English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 86% accuracy in sentiment analysis on translated sentences. Ensemble model outperformed independent pre-trained models and LLM individually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Challenging when dealing with foreign languages without labelled training data.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Rehan et al. (2023)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Socialization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 Multi-lingual Threatening Content Detection (MTCD) using transfer learning with fine-tuning techniques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RoBERTa achieved highest performance: 92% accuracy and 90% macro F1-score with joint multi-lingual approach.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limited work in low-resource languages.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  <p:sp>
        <p:nvSpPr>
          <p:cNvPr id="198" name="Google Shape;198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" name="Google Shape;204;p34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206" name="Google Shape;206;p34"/>
          <p:cNvSpPr txBox="1"/>
          <p:nvPr/>
        </p:nvSpPr>
        <p:spPr>
          <a:xfrm>
            <a:off x="1185774" y="1225000"/>
            <a:ext cx="7137426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systematic evaluation of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 sentiment analysis frameworks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combine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encoders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approaches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studies largely overlook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efficiency and sustainability metrics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inference time, energy consumption, carbon footprint).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exploration of how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 models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(M2M100) and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LLMs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support Bangla text processing.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works integrate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the evaluation of sentiment models to capture uncertainty in operational costs.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2" name="Google Shape;212;p35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214" name="Google Shape;214;p35"/>
          <p:cNvSpPr txBox="1"/>
          <p:nvPr/>
        </p:nvSpPr>
        <p:spPr>
          <a:xfrm>
            <a:off x="604650" y="1099375"/>
            <a:ext cx="7719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topic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(LDA, BERT-LDA,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BERTopic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 effectively combined with encoders (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BanglaBERT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XLM-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for Bangla sentiment </a:t>
            </a: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relative performance trade-off between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encoder pipelines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LLM prompting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design a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cost-aware evaluation framework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jointly considers accuracy, latency, energy consumption, and carbon emissions?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❏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uncertainty (e.g., fluctuating costs, variable energy prices), which models remain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sentiment </a:t>
            </a: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tasks?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0" name="Google Shape;220;p36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Objective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sp>
        <p:nvSpPr>
          <p:cNvPr id="222" name="Google Shape;222;p36"/>
          <p:cNvSpPr txBox="1"/>
          <p:nvPr/>
        </p:nvSpPr>
        <p:spPr>
          <a:xfrm>
            <a:off x="1210950" y="823103"/>
            <a:ext cx="7105050" cy="371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framework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Bangla sentiment </a:t>
            </a: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using: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Classical topic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encoders.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encoders.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LLM prompting.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 techniques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model evaluation to account for operational and sustainability costs.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trade-offs between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interpretability, modularity, scalability, and efficiency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different model families.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benchmark for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Bangla-specific sentiment </a:t>
            </a:r>
            <a:r>
              <a:rPr lang="en-GB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goes beyond accuracy to include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time, energy, and environmental costs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Methodology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28" name="Google Shape;228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>
            <a:spLocks noGrp="1"/>
          </p:cNvSpPr>
          <p:nvPr>
            <p:ph type="sldNum" idx="12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4325"/>
            <a:ext cx="8839202" cy="444212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8"/>
          <p:cNvSpPr txBox="1"/>
          <p:nvPr/>
        </p:nvSpPr>
        <p:spPr>
          <a:xfrm>
            <a:off x="152400" y="-79775"/>
            <a:ext cx="883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of proposed framework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Data Collection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41" name="Google Shape;24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7" name="Google Shape;247;p40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</a:t>
            </a: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ethod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sp>
        <p:nvSpPr>
          <p:cNvPr id="249" name="Google Shape;249;p40"/>
          <p:cNvSpPr/>
          <p:nvPr/>
        </p:nvSpPr>
        <p:spPr>
          <a:xfrm>
            <a:off x="5039781" y="1544038"/>
            <a:ext cx="1822800" cy="842100"/>
          </a:xfrm>
          <a:prstGeom prst="roundRect">
            <a:avLst>
              <a:gd name="adj" fmla="val 16667"/>
            </a:avLst>
          </a:prstGeom>
          <a:solidFill>
            <a:srgbClr val="CF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0"/>
          <p:cNvSpPr txBox="1"/>
          <p:nvPr/>
        </p:nvSpPr>
        <p:spPr>
          <a:xfrm>
            <a:off x="5375651" y="1699238"/>
            <a:ext cx="1443900" cy="5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 </a:t>
            </a:r>
            <a:r>
              <a:rPr lang="en-GB" sz="1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Rumor</a:t>
            </a:r>
            <a:r>
              <a:rPr lang="en-GB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 links are collected manually from the "</a:t>
            </a:r>
            <a:r>
              <a:rPr lang="en-GB" sz="1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Rumor</a:t>
            </a:r>
            <a:r>
              <a:rPr lang="en-GB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Scanner" website.</a:t>
            </a:r>
            <a:endParaRPr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40"/>
          <p:cNvSpPr/>
          <p:nvPr/>
        </p:nvSpPr>
        <p:spPr>
          <a:xfrm>
            <a:off x="5039781" y="3171370"/>
            <a:ext cx="1854900" cy="852900"/>
          </a:xfrm>
          <a:prstGeom prst="roundRect">
            <a:avLst>
              <a:gd name="adj" fmla="val 16667"/>
            </a:avLst>
          </a:prstGeom>
          <a:solidFill>
            <a:srgbClr val="CFD9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5375662" y="3387681"/>
            <a:ext cx="1561500" cy="4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(such as posts, comments, etc.) about Facebook Rumor Post links are extracted using a web scraper.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1929732" y="1890035"/>
            <a:ext cx="1788300" cy="1788300"/>
          </a:xfrm>
          <a:prstGeom prst="arc">
            <a:avLst>
              <a:gd name="adj1" fmla="val 16200000"/>
              <a:gd name="adj2" fmla="val 5298411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40"/>
          <p:cNvGrpSpPr/>
          <p:nvPr/>
        </p:nvGrpSpPr>
        <p:grpSpPr>
          <a:xfrm>
            <a:off x="2066866" y="2063002"/>
            <a:ext cx="1443832" cy="1443832"/>
            <a:chOff x="5681300" y="2527788"/>
            <a:chExt cx="805800" cy="805800"/>
          </a:xfrm>
        </p:grpSpPr>
        <p:sp>
          <p:nvSpPr>
            <p:cNvPr id="255" name="Google Shape;255;p40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 w="952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0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40"/>
          <p:cNvGrpSpPr/>
          <p:nvPr/>
        </p:nvGrpSpPr>
        <p:grpSpPr>
          <a:xfrm>
            <a:off x="4731270" y="1581822"/>
            <a:ext cx="745204" cy="766799"/>
            <a:chOff x="5681300" y="2527788"/>
            <a:chExt cx="805800" cy="805800"/>
          </a:xfrm>
        </p:grpSpPr>
        <p:sp>
          <p:nvSpPr>
            <p:cNvPr id="258" name="Google Shape;258;p40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0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12271918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40"/>
          <p:cNvGrpSpPr/>
          <p:nvPr/>
        </p:nvGrpSpPr>
        <p:grpSpPr>
          <a:xfrm>
            <a:off x="4731374" y="3209108"/>
            <a:ext cx="756002" cy="756002"/>
            <a:chOff x="5681300" y="2527788"/>
            <a:chExt cx="805800" cy="805800"/>
          </a:xfrm>
        </p:grpSpPr>
        <p:sp>
          <p:nvSpPr>
            <p:cNvPr id="261" name="Google Shape;261;p40"/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0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5544305"/>
                <a:gd name="adj2" fmla="val 1620000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 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40"/>
          <p:cNvSpPr/>
          <p:nvPr/>
        </p:nvSpPr>
        <p:spPr>
          <a:xfrm>
            <a:off x="2720231" y="1824610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0"/>
          <p:cNvSpPr/>
          <p:nvPr/>
        </p:nvSpPr>
        <p:spPr>
          <a:xfrm>
            <a:off x="2720231" y="3608135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0"/>
          <p:cNvSpPr/>
          <p:nvPr/>
        </p:nvSpPr>
        <p:spPr>
          <a:xfrm>
            <a:off x="3648281" y="2716373"/>
            <a:ext cx="137100" cy="137100"/>
          </a:xfrm>
          <a:prstGeom prst="ellipse">
            <a:avLst/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40"/>
          <p:cNvCxnSpPr/>
          <p:nvPr/>
        </p:nvCxnSpPr>
        <p:spPr>
          <a:xfrm rot="10800000" flipH="1">
            <a:off x="3785381" y="1992023"/>
            <a:ext cx="945900" cy="792900"/>
          </a:xfrm>
          <a:prstGeom prst="bentConnector3">
            <a:avLst>
              <a:gd name="adj1" fmla="val 51494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40"/>
          <p:cNvCxnSpPr/>
          <p:nvPr/>
        </p:nvCxnSpPr>
        <p:spPr>
          <a:xfrm>
            <a:off x="3785381" y="2784923"/>
            <a:ext cx="945900" cy="7914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40"/>
          <p:cNvCxnSpPr/>
          <p:nvPr/>
        </p:nvCxnSpPr>
        <p:spPr>
          <a:xfrm rot="10800000" flipH="1">
            <a:off x="3785381" y="2773223"/>
            <a:ext cx="471300" cy="11700"/>
          </a:xfrm>
          <a:prstGeom prst="bentConnector3">
            <a:avLst>
              <a:gd name="adj1" fmla="val 50015"/>
            </a:avLst>
          </a:prstGeom>
          <a:noFill/>
          <a:ln w="1905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p40"/>
          <p:cNvSpPr txBox="1"/>
          <p:nvPr/>
        </p:nvSpPr>
        <p:spPr>
          <a:xfrm>
            <a:off x="2204826" y="2471578"/>
            <a:ext cx="11679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Semi-automatic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/>
        </p:nvSpPr>
        <p:spPr>
          <a:xfrm>
            <a:off x="311700" y="237375"/>
            <a:ext cx="85206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457200" y="4180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>
                <a:latin typeface="Times New Roman"/>
                <a:ea typeface="Times New Roman"/>
                <a:cs typeface="Times New Roman"/>
                <a:sym typeface="Times New Roman"/>
              </a:rPr>
              <a:t> Sample </a:t>
            </a: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  <p:graphicFrame>
        <p:nvGraphicFramePr>
          <p:cNvPr id="277" name="Google Shape;277;p41"/>
          <p:cNvGraphicFramePr/>
          <p:nvPr/>
        </p:nvGraphicFramePr>
        <p:xfrm>
          <a:off x="884675" y="1375250"/>
          <a:ext cx="7374625" cy="2631775"/>
        </p:xfrm>
        <a:graphic>
          <a:graphicData uri="http://schemas.openxmlformats.org/drawingml/2006/table">
            <a:tbl>
              <a:tblPr>
                <a:noFill/>
                <a:tableStyleId>{5EB211D3-2732-4261-953B-9E89059BB5AC}</a:tableStyleId>
              </a:tblPr>
              <a:tblGrid>
                <a:gridCol w="245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 Title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Comments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Stance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 anchor="ctr"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50">
                <a:tc row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ইন্দোনেশিয়া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কোরআনের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হাফেজ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কে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মাটি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দেয়ার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সময়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কবর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আলোকিত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হয়ে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যায়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।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সুবহানাল্লাহ্</a:t>
                      </a:r>
                      <a:b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 Indonesia, the grave of a Hafiz of the Quran lit up during the burial.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SubhanAllah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.)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সুবহানাল্লাহ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SubhanAllah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.)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Positive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7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মিথ্যা কথা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(False statement.)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Negative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দয়া করে আমার পোস্ট টা আপনাদের গ্রুপে ছারেন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(Please share my post in your group.)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Neutral</a:t>
                      </a:r>
                      <a:endParaRPr sz="120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5400" marR="25400" marT="25400" marB="2540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 b="0" i="0" u="none" strike="noStrike" cap="none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TOPIC MODELING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283" name="Google Shape;283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9" name="Google Shape;28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  <p:graphicFrame>
        <p:nvGraphicFramePr>
          <p:cNvPr id="290" name="Google Shape;290;p43"/>
          <p:cNvGraphicFramePr/>
          <p:nvPr/>
        </p:nvGraphicFramePr>
        <p:xfrm>
          <a:off x="1368600" y="1089550"/>
          <a:ext cx="5962650" cy="3220480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Embedding-based 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for prompting-based 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/ MoE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 (DS Qwen 14B / 32B, DS Llama 8B / 70B)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/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/ 72B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1" name="Google Shape;291;p43"/>
          <p:cNvSpPr txBox="1"/>
          <p:nvPr/>
        </p:nvSpPr>
        <p:spPr>
          <a:xfrm>
            <a:off x="235125" y="424050"/>
            <a:ext cx="82296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3: </a:t>
            </a: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Embedding-Based and LLM-Based Topic Modeling Approaches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7" name="Google Shape;297;p44"/>
          <p:cNvSpPr txBox="1">
            <a:spLocks noGrp="1"/>
          </p:cNvSpPr>
          <p:nvPr>
            <p:ph type="sldNum" idx="12"/>
          </p:nvPr>
        </p:nvSpPr>
        <p:spPr>
          <a:xfrm>
            <a:off x="8832300" y="4865575"/>
            <a:ext cx="31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21</a:t>
            </a:fld>
            <a:endParaRPr dirty="0"/>
          </a:p>
        </p:txBody>
      </p:sp>
      <p:graphicFrame>
        <p:nvGraphicFramePr>
          <p:cNvPr id="298" name="Google Shape;298;p44"/>
          <p:cNvGraphicFramePr/>
          <p:nvPr/>
        </p:nvGraphicFramePr>
        <p:xfrm>
          <a:off x="311675" y="844125"/>
          <a:ext cx="8450400" cy="3784251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9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100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(Latent Dirichlet Allocation)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Generative probabilistic model.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document = mixture of latent topics; each topic = distribution over words.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bag-of-words independence (word order ignored).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and language-agnostic – requires no annotated data, making it suitable for low-resource languages like Bangla.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Interpretable topic-word distributions.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Stronger generalization than pLSI/LSA via Dirichlet priors.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Ignores semantics, context, and word order.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predefined number of topics.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poorly on short texts.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(BERT + LDA Hybrid)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contextual embeddings (BERT) to improve semantic coherence.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embeddings capture meaning better than raw co-occurrence.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LDA’s limitation: lack of semantics.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Produces more coherent topics (groups synonyms/related phrases).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performance on short texts.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Resource-intensive (embedding + clustering).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needs bag-of-words for topic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labeling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b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9" name="Google Shape;299;p44"/>
          <p:cNvSpPr txBox="1"/>
          <p:nvPr/>
        </p:nvSpPr>
        <p:spPr>
          <a:xfrm>
            <a:off x="311675" y="277925"/>
            <a:ext cx="8450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4: </a:t>
            </a: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Comparison of Topic Modeling Approaches: Fundamentals, Advantages, and Limitations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05" name="Google Shape;305;p45"/>
          <p:cNvSpPr txBox="1">
            <a:spLocks noGrp="1"/>
          </p:cNvSpPr>
          <p:nvPr>
            <p:ph type="sldNum" idx="12"/>
          </p:nvPr>
        </p:nvSpPr>
        <p:spPr>
          <a:xfrm>
            <a:off x="8832300" y="4869600"/>
            <a:ext cx="33615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22</a:t>
            </a:fld>
            <a:endParaRPr dirty="0"/>
          </a:p>
        </p:txBody>
      </p:sp>
      <p:graphicFrame>
        <p:nvGraphicFramePr>
          <p:cNvPr id="306" name="Google Shape;306;p45"/>
          <p:cNvGraphicFramePr/>
          <p:nvPr>
            <p:extLst>
              <p:ext uri="{D42A27DB-BD31-4B8C-83A1-F6EECF244321}">
                <p14:modId xmlns:p14="http://schemas.microsoft.com/office/powerpoint/2010/main" val="3457339194"/>
              </p:ext>
            </p:extLst>
          </p:nvPr>
        </p:nvGraphicFramePr>
        <p:xfrm>
          <a:off x="346800" y="523200"/>
          <a:ext cx="8450400" cy="4178213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04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(Embedding-based Topic Model)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Clusters transformer embeddings of documents.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class-based TF–IDF (c-TF-IDF) for topic labels.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BERT-LDA’s complexity: integrates clustering +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labeling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 one pipeline.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topic coherence.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Modular (any embedding model can be plugged in).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Handles dynamic topics over time.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Assigns one dominant topic per document.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bag-of-words for topic labels → misses phrase-level nuance.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Heavy computation for huge datasets.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(Mini &amp; MoE)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 language models (SLMs) with transformer backbone.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efficient, 3.8B params, 128k context.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16 experts, ~42B total, ~6.6B active per inference.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BERTopic’s limitation: non-generative, limited reasoning.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reasoning/coding ability despite small size.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 balances performance vs efficiency.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is not explicitly listed; for Bangla, it might occasionally produce awkward phrasing or rely on more general knowledge. 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Smaller models still lack deep world knowledge.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adds deployment complexity.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3" name="Google Shape;313;p46"/>
          <p:cNvSpPr txBox="1">
            <a:spLocks noGrp="1"/>
          </p:cNvSpPr>
          <p:nvPr>
            <p:ph type="sldNum" idx="12"/>
          </p:nvPr>
        </p:nvSpPr>
        <p:spPr>
          <a:xfrm>
            <a:off x="8832300" y="4934541"/>
            <a:ext cx="364199" cy="22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23</a:t>
            </a:fld>
            <a:endParaRPr dirty="0"/>
          </a:p>
        </p:txBody>
      </p:sp>
      <p:graphicFrame>
        <p:nvGraphicFramePr>
          <p:cNvPr id="314" name="Google Shape;314;p46"/>
          <p:cNvGraphicFramePr/>
          <p:nvPr>
            <p:extLst>
              <p:ext uri="{D42A27DB-BD31-4B8C-83A1-F6EECF244321}">
                <p14:modId xmlns:p14="http://schemas.microsoft.com/office/powerpoint/2010/main" val="3603627859"/>
              </p:ext>
            </p:extLst>
          </p:nvPr>
        </p:nvGraphicFramePr>
        <p:xfrm>
          <a:off x="697499" y="230424"/>
          <a:ext cx="8316900" cy="4704117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12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26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924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1.5 Mini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(AI21Labs)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architecture: Transformer + State-Space Model (SSM).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</a:t>
                      </a: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256k context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(longest among peers).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Phi-3.5’s limitation: limited context.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long document analysis.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decoding efficiency for long inputs.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was not explicitly listed as a supported language. 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Complex architecture (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SSM).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high hardware requirements for large models.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914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(DS Qwen-14B/32B &amp; DS Llama-8B/70B)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distilled from a huge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671B MoE teacher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into smaller Qwen/Llama bases.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reasoning and chain-of-thought.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reasoning in multiple languages (like Bangla).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Jamba’s limitation: weaker reasoning compared to distilled teacher knowledge.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Superior reasoning at smaller scale.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Performs step-by-step problem solving well. </a:t>
                      </a:r>
                      <a:b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Bias and flaws from the teacher model can transfer.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large (8B–70B), not lightweight.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7829100" y="-71829"/>
            <a:ext cx="13149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 dirty="0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1" name="Google Shape;321;p47"/>
          <p:cNvSpPr txBox="1">
            <a:spLocks noGrp="1"/>
          </p:cNvSpPr>
          <p:nvPr>
            <p:ph type="sldNum" idx="12"/>
          </p:nvPr>
        </p:nvSpPr>
        <p:spPr>
          <a:xfrm>
            <a:off x="8604000" y="4910650"/>
            <a:ext cx="5400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24</a:t>
            </a:fld>
            <a:endParaRPr dirty="0"/>
          </a:p>
        </p:txBody>
      </p:sp>
      <p:graphicFrame>
        <p:nvGraphicFramePr>
          <p:cNvPr id="322" name="Google Shape;322;p47"/>
          <p:cNvGraphicFramePr/>
          <p:nvPr>
            <p:extLst>
              <p:ext uri="{D42A27DB-BD31-4B8C-83A1-F6EECF244321}">
                <p14:modId xmlns:p14="http://schemas.microsoft.com/office/powerpoint/2010/main" val="1331193427"/>
              </p:ext>
            </p:extLst>
          </p:nvPr>
        </p:nvGraphicFramePr>
        <p:xfrm>
          <a:off x="311700" y="525549"/>
          <a:ext cx="8657812" cy="4396551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040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656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363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(8B / 70B)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Meta’s dense LLM is trained on 15T tokens.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Instruction-tuned with 10M curated examples.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128k context.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general intelligence and strong multilingual abilities (for its supported languages)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DeepSeek’s limitation: narrow focus on reasoning.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general-purpose model.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ecosystem + fine-tuning support.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Resource-heavy (esp. 70B).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Slightly behind Qwen in multilingual/code benchmarks.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2532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(7B / 72B)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18T tokens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(largest among peers). </a:t>
                      </a:r>
                      <a:b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multilingual + coding specialization. </a:t>
                      </a:r>
                      <a:b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32k context.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multilingual performance and multimodality: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Qwen-2.5-72B is one of the most capable open models as of 2025.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Addresses Llama 3.1’s limitation: not top in multilingual/code tasks.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State-of-the-art open-source performance.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Excels at reasoning, coding, and multilingual tasks.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72B model requires heavy computing.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508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Proprietary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MoE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versions only via API.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 b="0" i="0" u="none" strike="noStrike" cap="none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sENTIMENT</a:t>
            </a: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 Classification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29" name="Google Shape;329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5" name="Google Shape;335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  <p:graphicFrame>
        <p:nvGraphicFramePr>
          <p:cNvPr id="336" name="Google Shape;336;p49"/>
          <p:cNvGraphicFramePr/>
          <p:nvPr>
            <p:extLst>
              <p:ext uri="{D42A27DB-BD31-4B8C-83A1-F6EECF244321}">
                <p14:modId xmlns:p14="http://schemas.microsoft.com/office/powerpoint/2010/main" val="3723968904"/>
              </p:ext>
            </p:extLst>
          </p:nvPr>
        </p:nvGraphicFramePr>
        <p:xfrm>
          <a:off x="1323550" y="1540413"/>
          <a:ext cx="5962650" cy="2091667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Encoder models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LLMs for prompting-based sentiment analysis 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 (DS Qwen 14B / 32B, DS Llama 8B / 70B)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/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2.5 7B / 72B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7" name="Google Shape;337;p49"/>
          <p:cNvSpPr txBox="1"/>
          <p:nvPr/>
        </p:nvSpPr>
        <p:spPr>
          <a:xfrm>
            <a:off x="970800" y="927400"/>
            <a:ext cx="7202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5: </a:t>
            </a: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Encoder-Based and LLM-Based Models for Sentiment Classification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3" name="Google Shape;343;p50"/>
          <p:cNvSpPr txBox="1">
            <a:spLocks noGrp="1"/>
          </p:cNvSpPr>
          <p:nvPr>
            <p:ph type="sldNum" idx="12"/>
          </p:nvPr>
        </p:nvSpPr>
        <p:spPr>
          <a:xfrm>
            <a:off x="8832300" y="4818652"/>
            <a:ext cx="311700" cy="32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27</a:t>
            </a:fld>
            <a:endParaRPr dirty="0"/>
          </a:p>
        </p:txBody>
      </p:sp>
      <p:graphicFrame>
        <p:nvGraphicFramePr>
          <p:cNvPr id="344" name="Google Shape;344;p50"/>
          <p:cNvGraphicFramePr/>
          <p:nvPr>
            <p:extLst>
              <p:ext uri="{D42A27DB-BD31-4B8C-83A1-F6EECF244321}">
                <p14:modId xmlns:p14="http://schemas.microsoft.com/office/powerpoint/2010/main" val="3267412789"/>
              </p:ext>
            </p:extLst>
          </p:nvPr>
        </p:nvGraphicFramePr>
        <p:xfrm>
          <a:off x="328200" y="365524"/>
          <a:ext cx="8675625" cy="4493805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Monolingual BERT-base encoder trained only on Bangla text.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masked language </a:t>
                      </a:r>
                      <a:r>
                        <a:rPr lang="en-GB" sz="12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modeling</a:t>
                      </a: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Bangla-only training captures better syntax and semantics than multilingual.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Directly overcomes the limitation of generic multilingual models that lacked Bangla depth.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grasp of Bangla vocabulary and grammar.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Higher accuracy on Bangla sentiment tasks.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(~110M params) and easy to fine-tune.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 at handling Banglish (Bangla + English mix).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Struggles with transliterated Bangla.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512 tokens.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generative or reasoning ability.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Multilingual RoBERTa encoder trained on 100 languages (including Bangla).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shared subword vocabulary for cross-lingual transfer.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high-resource languages can boost low-resource languages.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BanglaBERT’s limitation of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poor handling of code-mixing and transliteration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Covers Bangla plus related languages, improving mixed text handling.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is underrepresented in its training → misses idioms/slang.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Still context-limited (~512 tokens).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00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tuned specifically for Bangla sentiment out of the box. </a:t>
                      </a:r>
                      <a:endParaRPr sz="12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5" name="Google Shape;345;p50"/>
          <p:cNvSpPr txBox="1"/>
          <p:nvPr/>
        </p:nvSpPr>
        <p:spPr>
          <a:xfrm>
            <a:off x="44863" y="0"/>
            <a:ext cx="90543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6: </a:t>
            </a: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Comparison of  Sentiment Classification Approaches: Fundamentals, Advantages, and Limitations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1" name="Google Shape;351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  <p:graphicFrame>
        <p:nvGraphicFramePr>
          <p:cNvPr id="352" name="Google Shape;352;p51"/>
          <p:cNvGraphicFramePr/>
          <p:nvPr/>
        </p:nvGraphicFramePr>
        <p:xfrm>
          <a:off x="234188" y="523200"/>
          <a:ext cx="8675625" cy="4283493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Distillations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(DS Qwen-14B/32B &amp; DS Llama-8B/70B)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Distilled models using Qwen or Llama backbones.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Knowledge distilled from reasoning-heavy training.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reasoning skill transfers to multiple languages.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XLM-R’s limitation of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capacity and short context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Longer context windows → handles full Bangla threads or articles.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reasoning → can detect sarcasm or irony in Bangla sentiment.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 open-source models easier to adapt than massive dense LMs.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natively trained on Bangla → needs extra fine-tuning.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Larger models still require significant compute.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Misses some idiomatic Bangla cues unless adapted.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952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(8B / 70B)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Next-gen Transformer (8B–405B params).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large multilingual corpora, with 128K context.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massive scale + instruction tuning = superior multilingual performance.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DeepSeek’s limitation of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Bangla exposure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Trained on broader language data → stronger Bangla fluency.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Detects subtle sentiment shifts and sarcasm in Bangla.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 analyze entire long documents or conversations.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large (70B+ params) → costly to run.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 still less represented than English/Chinese.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269999" marR="63500" lvl="0" indent="-269999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Improvements in sentiment classification may be marginal over smaller tuned models.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3" name="Google Shape;353;p51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9" name="Google Shape;359;p5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  <p:graphicFrame>
        <p:nvGraphicFramePr>
          <p:cNvPr id="360" name="Google Shape;360;p52"/>
          <p:cNvGraphicFramePr/>
          <p:nvPr/>
        </p:nvGraphicFramePr>
        <p:xfrm>
          <a:off x="234175" y="1017650"/>
          <a:ext cx="8675625" cy="3486598"/>
        </p:xfrm>
        <a:graphic>
          <a:graphicData uri="http://schemas.openxmlformats.org/drawingml/2006/table">
            <a:tbl>
              <a:tblPr>
                <a:noFill/>
                <a:tableStyleId>{F72C0EA6-A505-4250-B67E-AABAAA7F04E4}</a:tableStyleId>
              </a:tblPr>
              <a:tblGrid>
                <a:gridCol w="10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15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Fundamentals &amp; Assumptions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175">
                <a:tc>
                  <a:txBody>
                    <a:bodyPr/>
                    <a:lstStyle/>
                    <a:p>
                      <a:pPr marL="63500" marR="635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(7B / 72B)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Alibaba’s efficient LLM family (up to 72B params).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context (128K), optimized training to rival larger models.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efficiency + smart training can outperform larger dense models.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Overcomes Llama 3.1’s limitation of 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impractical scale and deployment</a:t>
                      </a: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Nearly state-of-the-art Bangla understanding at smaller size.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context helps with lengthy sentiment-rich Bangla texts.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Easier to fine-tune and deploy than 70B–405B Llama models.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Training still focused mainly on Chinese/English → Bangla needs fine-tuning.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Subword tokenization may fragment Bangla words.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69900" marR="635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Char char="●"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72B model still resource-demanding for small labs.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1" name="Google Shape;361;p52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 b="0" i="0" u="none" strike="noStrike" cap="none">
                <a:solidFill>
                  <a:srgbClr val="000000"/>
                </a:solidFill>
                <a:latin typeface="Algerian"/>
                <a:ea typeface="Algerian"/>
                <a:cs typeface="Algerian"/>
                <a:sym typeface="Algerian"/>
              </a:rPr>
              <a:t>Combination for Sentiment </a:t>
            </a: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Analysis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367" name="Google Shape;367;p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3" name="Google Shape;373;p5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  <p:graphicFrame>
        <p:nvGraphicFramePr>
          <p:cNvPr id="374" name="Google Shape;374;p54"/>
          <p:cNvGraphicFramePr/>
          <p:nvPr/>
        </p:nvGraphicFramePr>
        <p:xfrm>
          <a:off x="1585913" y="852325"/>
          <a:ext cx="5972175" cy="3762710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BERT-LDA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BERTopic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Mini 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75" name="Google Shape;375;p54"/>
          <p:cNvSpPr txBox="1"/>
          <p:nvPr/>
        </p:nvSpPr>
        <p:spPr>
          <a:xfrm>
            <a:off x="970813" y="446125"/>
            <a:ext cx="72024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7: </a:t>
            </a:r>
            <a:r>
              <a:rPr lang="en-GB" sz="16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Combinations for Sentiment Analysis</a:t>
            </a:r>
            <a:endParaRPr sz="16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1" name="Google Shape;381;p5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  <p:graphicFrame>
        <p:nvGraphicFramePr>
          <p:cNvPr id="382" name="Google Shape;382;p55"/>
          <p:cNvGraphicFramePr/>
          <p:nvPr/>
        </p:nvGraphicFramePr>
        <p:xfrm>
          <a:off x="1585913" y="852325"/>
          <a:ext cx="5972175" cy="3762710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MoE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Phi 3.5 MoE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Jamba Mini 1.5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83" name="Google Shape;383;p55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9" name="Google Shape;389;p5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  <p:graphicFrame>
        <p:nvGraphicFramePr>
          <p:cNvPr id="390" name="Google Shape;390;p56"/>
          <p:cNvGraphicFramePr/>
          <p:nvPr/>
        </p:nvGraphicFramePr>
        <p:xfrm>
          <a:off x="1585913" y="852325"/>
          <a:ext cx="5972175" cy="3762710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91" name="Google Shape;391;p56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  <p:graphicFrame>
        <p:nvGraphicFramePr>
          <p:cNvPr id="397" name="Google Shape;397;p57"/>
          <p:cNvGraphicFramePr/>
          <p:nvPr/>
        </p:nvGraphicFramePr>
        <p:xfrm>
          <a:off x="1585913" y="852325"/>
          <a:ext cx="5972175" cy="3762710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BanglaBERT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XLM-RoBERTa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14B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Qwen 32B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DeepSeek DS Llama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98" name="Google Shape;398;p57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4" name="Google Shape;404;p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  <p:graphicFrame>
        <p:nvGraphicFramePr>
          <p:cNvPr id="405" name="Google Shape;405;p58"/>
          <p:cNvGraphicFramePr/>
          <p:nvPr/>
        </p:nvGraphicFramePr>
        <p:xfrm>
          <a:off x="1510838" y="1468038"/>
          <a:ext cx="5972175" cy="2257626"/>
        </p:xfrm>
        <a:graphic>
          <a:graphicData uri="http://schemas.openxmlformats.org/drawingml/2006/table">
            <a:tbl>
              <a:tblPr>
                <a:noFill/>
                <a:tableStyleId>{0CAA5FAB-A5EE-45B8-A7DA-BDBDD667AB4C}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No.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Combination for 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Topic Modeling 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Sentiment </a:t>
                      </a: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Classification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8B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Llama 3.1 70B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GB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Qwen 2.5 72B 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6" name="Google Shape;406;p58"/>
          <p:cNvSpPr txBox="1">
            <a:spLocks noGrp="1"/>
          </p:cNvSpPr>
          <p:nvPr>
            <p:ph type="title"/>
          </p:nvPr>
        </p:nvSpPr>
        <p:spPr>
          <a:xfrm>
            <a:off x="7829125" y="223750"/>
            <a:ext cx="13149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800" b="1" i="1">
                <a:latin typeface="Times New Roman"/>
                <a:ea typeface="Times New Roman"/>
                <a:cs typeface="Times New Roman"/>
                <a:sym typeface="Times New Roman"/>
              </a:rPr>
              <a:t>(Cont’d…)</a:t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9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2" name="Google Shape;412;p59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5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  <p:sp>
        <p:nvSpPr>
          <p:cNvPr id="414" name="Google Shape;414;p59"/>
          <p:cNvSpPr/>
          <p:nvPr/>
        </p:nvSpPr>
        <p:spPr>
          <a:xfrm>
            <a:off x="1021000" y="1216200"/>
            <a:ext cx="6927800" cy="3618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Usual metrics: 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Accuracy, Precision, Recall, F1, Confusion Matrix.</a:t>
            </a:r>
            <a:b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 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Ignore </a:t>
            </a:r>
            <a:r>
              <a:rPr lang="en-GB" sz="1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time, energy, carbon, and cost of misclassification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approach: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 framework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combining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(             )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b="0" i="0" u="none" strike="noStrike" cap="none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Strubell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2020)</a:t>
            </a:r>
            <a:b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(             ) 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b="0" i="0" u="none" strike="noStrike" cap="none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Strubell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2020)</a:t>
            </a:r>
            <a:b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footprint (              )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b="0" i="0" u="none" strike="noStrike" cap="none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Lannelongue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et al., 2021)</a:t>
            </a:r>
            <a:b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Cost-sensitive errors (                        ​) 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b="0" i="0" u="none" strike="noStrike" cap="none" dirty="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Elkan, 2001</a:t>
            </a:r>
            <a:r>
              <a:rPr lang="en-GB" sz="1200" b="0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b="0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model choice is </a:t>
            </a:r>
            <a:r>
              <a:rPr lang="en-GB" sz="1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under uncertainty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fluctuating costs, carbon pricing).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 </a:t>
            </a:r>
            <a:r>
              <a:rPr lang="en-GB" sz="12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holistic evaluation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accuracy + efficiency + sustainability + impact.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5" name="Google Shape;41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0001" y="2571750"/>
            <a:ext cx="411400" cy="2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2599" y="2984674"/>
            <a:ext cx="411400" cy="18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99894" y="3400562"/>
            <a:ext cx="504106" cy="18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0844" y="3779147"/>
            <a:ext cx="703155" cy="346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0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4" name="Google Shape;424;p60"/>
          <p:cNvSpPr txBox="1"/>
          <p:nvPr/>
        </p:nvSpPr>
        <p:spPr>
          <a:xfrm>
            <a:off x="457200" y="19810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Notations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6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  <p:pic>
        <p:nvPicPr>
          <p:cNvPr id="426" name="Google Shape;42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4263" y="808275"/>
            <a:ext cx="5815486" cy="3911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1"/>
          <p:cNvSpPr txBox="1"/>
          <p:nvPr/>
        </p:nvSpPr>
        <p:spPr>
          <a:xfrm>
            <a:off x="498900" y="-173050"/>
            <a:ext cx="8520600" cy="6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2" name="Google Shape;432;p61"/>
          <p:cNvSpPr txBox="1"/>
          <p:nvPr/>
        </p:nvSpPr>
        <p:spPr>
          <a:xfrm>
            <a:off x="718933" y="24681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Optimization Formulation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61"/>
          <p:cNvSpPr txBox="1">
            <a:spLocks noGrp="1"/>
          </p:cNvSpPr>
          <p:nvPr>
            <p:ph type="sldNum" idx="12"/>
          </p:nvPr>
        </p:nvSpPr>
        <p:spPr>
          <a:xfrm>
            <a:off x="8768408" y="4838167"/>
            <a:ext cx="36025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38</a:t>
            </a:fld>
            <a:endParaRPr dirty="0"/>
          </a:p>
        </p:txBody>
      </p:sp>
      <p:sp>
        <p:nvSpPr>
          <p:cNvPr id="434" name="Google Shape;434;p61"/>
          <p:cNvSpPr txBox="1"/>
          <p:nvPr/>
        </p:nvSpPr>
        <p:spPr>
          <a:xfrm>
            <a:off x="904800" y="561050"/>
            <a:ext cx="75936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Interval Definitions</a:t>
            </a:r>
            <a:endParaRPr sz="1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each weight has uncertainty: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61"/>
          <p:cNvSpPr txBox="1"/>
          <p:nvPr/>
        </p:nvSpPr>
        <p:spPr>
          <a:xfrm>
            <a:off x="904800" y="1364950"/>
            <a:ext cx="759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Robust (min–max) Formulation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61"/>
          <p:cNvSpPr txBox="1"/>
          <p:nvPr/>
        </p:nvSpPr>
        <p:spPr>
          <a:xfrm>
            <a:off x="904800" y="1922522"/>
            <a:ext cx="7555200" cy="97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MILP Formulation (if discrete models)</a:t>
            </a:r>
            <a:endParaRPr sz="1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 binary decision variables: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61"/>
          <p:cNvSpPr txBox="1"/>
          <p:nvPr/>
        </p:nvSpPr>
        <p:spPr>
          <a:xfrm>
            <a:off x="904800" y="2883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Then: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61"/>
          <p:cNvSpPr txBox="1"/>
          <p:nvPr/>
        </p:nvSpPr>
        <p:spPr>
          <a:xfrm>
            <a:off x="904800" y="3171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to: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61"/>
          <p:cNvSpPr txBox="1"/>
          <p:nvPr/>
        </p:nvSpPr>
        <p:spPr>
          <a:xfrm>
            <a:off x="904800" y="3614275"/>
            <a:ext cx="75936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Linearization (Robust Counterpart)</a:t>
            </a:r>
            <a:endParaRPr sz="1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intervals, the worst-case objective simplifies: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61"/>
          <p:cNvSpPr txBox="1"/>
          <p:nvPr/>
        </p:nvSpPr>
        <p:spPr>
          <a:xfrm>
            <a:off x="904800" y="4429917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robust counterpart is:</a:t>
            </a:r>
            <a:endParaRPr sz="1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1" name="Google Shape;44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1479" y="1162987"/>
            <a:ext cx="4104797" cy="2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7848" y="1923463"/>
            <a:ext cx="394228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04567" y="2424865"/>
            <a:ext cx="1795190" cy="46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33733" y="2927047"/>
            <a:ext cx="3000000" cy="41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33733" y="3428000"/>
            <a:ext cx="1072237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6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077824" y="4160598"/>
            <a:ext cx="4480604" cy="36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60447" y="4424150"/>
            <a:ext cx="2683430" cy="4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/>
        </p:nvSpPr>
        <p:spPr>
          <a:xfrm>
            <a:off x="311700" y="1118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3" name="Google Shape;453;p62"/>
          <p:cNvSpPr txBox="1"/>
          <p:nvPr/>
        </p:nvSpPr>
        <p:spPr>
          <a:xfrm>
            <a:off x="457200" y="7852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6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  <p:sp>
        <p:nvSpPr>
          <p:cNvPr id="455" name="Google Shape;455;p62"/>
          <p:cNvSpPr txBox="1"/>
          <p:nvPr/>
        </p:nvSpPr>
        <p:spPr>
          <a:xfrm>
            <a:off x="1569450" y="1226388"/>
            <a:ext cx="6005100" cy="26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Benchmark of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 model configurations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Bangla sentiment prediction.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LLM-based topic </a:t>
            </a:r>
            <a:r>
              <a:rPr lang="en-GB" sz="11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modeling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encoders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richer embeddings, higher accuracy.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LLM prompting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competitive accuracy but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higher cost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(latency, energy).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BanglaBERT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outperforms XLM-</a:t>
            </a:r>
            <a:r>
              <a:rPr lang="en-GB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Bangla-only tasks.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Novel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cost-aware evaluation framework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(accuracy + time + energy + carbon).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deployment guidelines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balancing accuracy and efficiency.</a:t>
            </a:r>
            <a:b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➢"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Framework generalizable to other </a:t>
            </a:r>
            <a:r>
              <a:rPr lang="en-GB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low-resource languages</a:t>
            </a:r>
            <a:r>
              <a:rPr lang="en-GB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3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1" name="Google Shape;461;p63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p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  <p:sp>
        <p:nvSpPr>
          <p:cNvPr id="463" name="Google Shape;463;p63"/>
          <p:cNvSpPr txBox="1"/>
          <p:nvPr/>
        </p:nvSpPr>
        <p:spPr>
          <a:xfrm>
            <a:off x="1269300" y="1186500"/>
            <a:ext cx="67926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Demonstrated that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topic 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richer embeddings, improving downstream sentiment classification compared to classical topic 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BanglaBERT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XLM-</a:t>
            </a:r>
            <a:r>
              <a:rPr lang="en-GB" sz="14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RoBERTa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perform strongly when paired with LDA/BERT-LDA/</a:t>
            </a:r>
            <a:r>
              <a:rPr lang="en-GB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BERTopic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high accuracy with moderate cost.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prompting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achieves competitive performance but at significantly higher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and energy costs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cost-aware evaluation framework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highlights that the “best” model depends not only on accuracy but also on </a:t>
            </a:r>
            <a:r>
              <a:rPr lang="en-GB" sz="1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constraints</a:t>
            </a:r>
            <a:r>
              <a:rPr lang="en-GB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real-time vs. batch processing).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4"/>
          <p:cNvSpPr txBox="1"/>
          <p:nvPr/>
        </p:nvSpPr>
        <p:spPr>
          <a:xfrm>
            <a:off x="311700" y="9610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endParaRPr sz="4200" b="0" i="0" u="none" strike="noStrike" cap="none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57200" y="23737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Works</a:t>
            </a:r>
            <a:endParaRPr sz="2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  <p:sp>
        <p:nvSpPr>
          <p:cNvPr id="471" name="Google Shape;471;p64"/>
          <p:cNvSpPr txBox="1"/>
          <p:nvPr/>
        </p:nvSpPr>
        <p:spPr>
          <a:xfrm>
            <a:off x="311700" y="1028700"/>
            <a:ext cx="8520600" cy="3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evaluation to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stance detection 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(support, deny, query, comment) alongside sentiment (positive, negative, neutral).</a:t>
            </a:r>
            <a:b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knowledge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distillation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parameter-efficient tuning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(LoRA, adapters) to reduce LLM inference cost for Bangla text.</a:t>
            </a:r>
            <a:b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graph-based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features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(e.g., network propagation, images, videos) for richer rumor analysis.</a:t>
            </a:r>
            <a:b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the framework on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Bangla social media datasets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evolving rumor events.</a:t>
            </a:r>
            <a:b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benchmark toolkit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cost-aware sentiment prediction in low-resource languages.</a:t>
            </a:r>
            <a:b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References</a:t>
            </a:r>
            <a:endParaRPr sz="6000" b="0" i="0" u="none" strike="noStrike" cap="none">
              <a:solidFill>
                <a:srgbClr val="00000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477" name="Google Shape;477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6"/>
          <p:cNvSpPr txBox="1">
            <a:spLocks noGrp="1"/>
          </p:cNvSpPr>
          <p:nvPr>
            <p:ph type="body" idx="1"/>
          </p:nvPr>
        </p:nvSpPr>
        <p:spPr>
          <a:xfrm>
            <a:off x="1097250" y="569250"/>
            <a:ext cx="6949500" cy="4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Times New Roman"/>
              <a:buAutoNum type="arabicPeriod"/>
            </a:pP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Xing, F. (2025). Designing heterogeneous llm agents for financial sentiment analysis. </a:t>
            </a:r>
            <a:r>
              <a:rPr lang="en-GB" sz="1200" b="0" i="1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ACM Transactions on Management Information Systems</a:t>
            </a: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lang="en-GB" sz="1200" b="0" i="1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1-24.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Katta, K. (2025). Analyzing User Perceptions of Large Language Models (LLMs) on Reddit: Sentiment and Topic Modeling of ChatGPT and DeepSeek Discussions. </a:t>
            </a:r>
            <a:r>
              <a:rPr lang="en-GB" sz="1200" b="0" i="1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arXiv:2502.18513</a:t>
            </a: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Times New Roman"/>
              <a:buAutoNum type="arabicPeriod"/>
            </a:pP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Invernici, F., Curati, F., Jakimov, J., Samavi, A., &amp; Bernasconi, A. (2025). Capturing research literature attitude towards sustainable development goals: an LLM-based topic modeling approach. </a:t>
            </a:r>
            <a:r>
              <a:rPr lang="en-GB" sz="1200" b="0" i="1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Big Data</a:t>
            </a: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 </a:t>
            </a:r>
            <a:r>
              <a:rPr lang="en-GB" sz="1200" b="0" i="1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200" b="0" i="0" u="none" strike="noStrike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139.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Wahidur, R. S., Tashdeed, I., Kaur, M., &amp; Lee, H. N. (2024). Enhancing zero-shot crypto sentiment with fine-tuned language model and prompt engineering.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IEEE Access, 12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, 10146-10159.	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Uddin, M. A., &amp; Sarker, I. H. (2024). An explainable transformer-based model for phishing email detection: A large language model approach.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arXiv preprint arXiv:2402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.13871.				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Xu, S., Wu, Z., Zhao, H., Shu, P., Liu, Z., Liao, W., ... &amp; Li, X. (2024). Reasoning before comparison: LLM-enhanced semantic similarity metrics for domain specialized text analysis.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arXiv preprint arXiv:2402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.11398.		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Ghatora, P. S., Hosseini, S. E., Pervez, S., Iqbal, M. J., &amp; Shaukat, N. (2024). Sentiment analysis of product reviews using machine learning and pre-trained llm.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Big Data and Cognitive Computing, 8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(12), 199.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7"/>
          <p:cNvSpPr txBox="1">
            <a:spLocks noGrp="1"/>
          </p:cNvSpPr>
          <p:nvPr>
            <p:ph type="body" idx="1"/>
          </p:nvPr>
        </p:nvSpPr>
        <p:spPr>
          <a:xfrm>
            <a:off x="1215300" y="702750"/>
            <a:ext cx="6713400" cy="3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Thakur, N., Cui, S., Knieling, V., Khanna, K., &amp; Shao, M. (2024). Investigation of the misinformation about covid-19 on youtube using topic modeling, sentiment analysis, and language analysis.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Computation, 12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(2), 28.		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Miah, M. S. U., Kabir, M. M., Sarwar, T. B., Safran, M., Alfarhood, S., &amp; Mridha, M. F. (2024). A multimodal approach to cross-lingual sentiment analysis with ensemble of transformer and LLM.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Scientific Reports, 14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(1), 9603.	</a:t>
            </a:r>
            <a:endParaRPr/>
          </a:p>
          <a:p>
            <a:pPr marL="457200" lvl="0" indent="-3048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Rehan, M., Malik, M. S. I., &amp; Jamjoom, M. M. (2023). Fine-tuning transformer models using transfer learning for multilingual threatening text identification. 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IEEE Access, 11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, 106503-106515.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Strubell, E., Ganesh, A., &amp; McCallum, A. (2020, April). Energy and policy considerations for modern deep learning research. In </a:t>
            </a:r>
            <a:r>
              <a:rPr lang="en-GB" sz="12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Proceedings of the AAAI conference on artificial intelligence</a:t>
            </a: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(Vol. 34, No. 09, pp. 13693-13696).</a:t>
            </a:r>
            <a:endParaRPr sz="12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Lannelongue, L., Grealey, J., &amp; Inouye, M. (2021). Green algorithms: quantifying the carbon footprint of computation. </a:t>
            </a:r>
            <a:r>
              <a:rPr lang="en-GB" sz="12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Advanced science</a:t>
            </a: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(12), 2100707.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Times New Roman"/>
              <a:buAutoNum type="arabicPeriod" startAt="8"/>
            </a:pP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Elkan, C. (2001, August). The foundations of cost-sensitive learning. In </a:t>
            </a:r>
            <a:r>
              <a:rPr lang="en-GB" sz="1200" i="1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International joint conference on artificial intelligence</a:t>
            </a:r>
            <a:r>
              <a:rPr lang="en-GB" sz="12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(Vol. 17, No. 1, pp. 973-978). Lawrence Erlbaum Associates Ltd.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/>
          <p:nvPr/>
        </p:nvSpPr>
        <p:spPr>
          <a:xfrm>
            <a:off x="624450" y="504600"/>
            <a:ext cx="7895100" cy="4134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GB" sz="6000">
                <a:latin typeface="Algerian"/>
                <a:ea typeface="Algerian"/>
                <a:cs typeface="Algerian"/>
                <a:sym typeface="Algerian"/>
              </a:rPr>
              <a:t>Thank You</a:t>
            </a:r>
            <a:endParaRPr sz="6000">
              <a:latin typeface="Algerian"/>
              <a:ea typeface="Algerian"/>
              <a:cs typeface="Algerian"/>
              <a:sym typeface="Algeri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495" name="Google Shape;495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  <p:sp>
        <p:nvSpPr>
          <p:cNvPr id="496" name="Google Shape;496;p68"/>
          <p:cNvSpPr txBox="1"/>
          <p:nvPr/>
        </p:nvSpPr>
        <p:spPr>
          <a:xfrm>
            <a:off x="1711660" y="2808608"/>
            <a:ext cx="572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Please let me know if you have any question</a:t>
            </a:r>
            <a:endParaRPr sz="1400" i="0" u="none" strike="noStrike" cap="non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4577</Words>
  <Application>Microsoft Office PowerPoint</Application>
  <PresentationFormat>On-screen Show (16:9)</PresentationFormat>
  <Paragraphs>673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Calibri</vt:lpstr>
      <vt:lpstr>Algerian</vt:lpstr>
      <vt:lpstr>Times New Roman</vt:lpstr>
      <vt:lpstr>Arial</vt:lpstr>
      <vt:lpstr>Economica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1: Data collection information, features, and tools used in recent studies</vt:lpstr>
      <vt:lpstr>(Cont’d…)</vt:lpstr>
      <vt:lpstr>Table 2: Areas, objectives, results, and limitations of recent studies</vt:lpstr>
      <vt:lpstr>(Cont’d…)</vt:lpstr>
      <vt:lpstr>(Cont’d…)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(Cont’d…)</vt:lpstr>
      <vt:lpstr>(Cont’d…)</vt:lpstr>
      <vt:lpstr>(Cont’d…)</vt:lpstr>
      <vt:lpstr>PowerPoint Presentation</vt:lpstr>
      <vt:lpstr>PowerPoint Presentation</vt:lpstr>
      <vt:lpstr>PowerPoint Presentation</vt:lpstr>
      <vt:lpstr>(Cont’d…)</vt:lpstr>
      <vt:lpstr>(Cont’d…)</vt:lpstr>
      <vt:lpstr>PowerPoint Presentation</vt:lpstr>
      <vt:lpstr>PowerPoint Presentation</vt:lpstr>
      <vt:lpstr>(Cont’d…)</vt:lpstr>
      <vt:lpstr>(Cont’d…)</vt:lpstr>
      <vt:lpstr>(Cont’d…)</vt:lpstr>
      <vt:lpstr>(Cont’d…)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Nayan Nath</dc:creator>
  <cp:lastModifiedBy>Nayan nath</cp:lastModifiedBy>
  <cp:revision>15</cp:revision>
  <dcterms:modified xsi:type="dcterms:W3CDTF">2025-09-17T15:49:18Z</dcterms:modified>
</cp:coreProperties>
</file>